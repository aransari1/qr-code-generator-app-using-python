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av" ContentType="audio/x-wav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3"/>
  </p:notesMasterIdLst>
  <p:handoutMasterIdLst>
    <p:handoutMasterId r:id="rId14"/>
  </p:handoutMasterIdLst>
  <p:sldIdLst>
    <p:sldId id="278" r:id="rId2"/>
    <p:sldId id="279" r:id="rId3"/>
    <p:sldId id="280" r:id="rId4"/>
    <p:sldId id="282" r:id="rId5"/>
    <p:sldId id="294" r:id="rId6"/>
    <p:sldId id="290" r:id="rId7"/>
    <p:sldId id="288" r:id="rId8"/>
    <p:sldId id="281" r:id="rId9"/>
    <p:sldId id="289" r:id="rId10"/>
    <p:sldId id="291" r:id="rId11"/>
    <p:sldId id="293" r:id="rId12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userDrawn="1">
          <p15:clr>
            <a:srgbClr val="A4A3A4"/>
          </p15:clr>
        </p15:guide>
        <p15:guide id="2" pos="456" userDrawn="1">
          <p15:clr>
            <a:srgbClr val="A4A3A4"/>
          </p15:clr>
        </p15:guide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pos="2136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8" orient="horz" pos="1152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0" orient="horz" pos="1512" userDrawn="1">
          <p15:clr>
            <a:srgbClr val="A4A3A4"/>
          </p15:clr>
        </p15:guide>
        <p15:guide id="11" pos="7680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3" pos="1008" userDrawn="1">
          <p15:clr>
            <a:srgbClr val="A4A3A4"/>
          </p15:clr>
        </p15:guide>
        <p15:guide id="14" pos="1584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4" orient="horz" pos="960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HUBBAN AHLEHADEETH" initials="SA" lastIdx="1" clrIdx="0">
    <p:extLst>
      <p:ext uri="{19B8F6BF-5375-455C-9EA6-DF929625EA0E}">
        <p15:presenceInfo xmlns:p15="http://schemas.microsoft.com/office/powerpoint/2012/main" userId="ffd1044e79b6c78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CDCE"/>
    <a:srgbClr val="DE8C8C"/>
    <a:srgbClr val="1F2C8F"/>
    <a:srgbClr val="BCDEFF"/>
    <a:srgbClr val="AAAEF0"/>
    <a:srgbClr val="330000"/>
    <a:srgbClr val="535521"/>
    <a:srgbClr val="3B492B"/>
    <a:srgbClr val="CC4C4C"/>
    <a:srgbClr val="989D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09" autoAdjust="0"/>
  </p:normalViewPr>
  <p:slideViewPr>
    <p:cSldViewPr snapToGrid="0" snapToObjects="1">
      <p:cViewPr varScale="1">
        <p:scale>
          <a:sx n="113" d="100"/>
          <a:sy n="113" d="100"/>
        </p:scale>
        <p:origin x="510" y="114"/>
      </p:cViewPr>
      <p:guideLst>
        <p:guide/>
        <p:guide pos="456"/>
        <p:guide orient="horz" pos="2616"/>
        <p:guide orient="horz" pos="3264"/>
        <p:guide pos="6912"/>
        <p:guide orient="horz" pos="2136"/>
        <p:guide orient="horz" pos="4008"/>
        <p:guide orient="horz" pos="1152"/>
        <p:guide orient="horz" pos="2352"/>
        <p:guide orient="horz" pos="1512"/>
        <p:guide pos="7680"/>
        <p:guide pos="6696"/>
        <p:guide pos="1008"/>
        <p:guide pos="1584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orient="horz" pos="960"/>
        <p:guide pos="5256"/>
        <p:guide pos="726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3225069-9212-757B-FB03-C6918B9D11D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QR CODE GENERATOR USING PYTHON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B5CAD1-1BE6-8C82-55B3-2E40A5E3F42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281E24-988C-4504-8634-0B43A11016A2}" type="datetime1">
              <a:rPr lang="en-US" smtClean="0"/>
              <a:t>24-Feb-23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2F8446-19CF-6F2F-6211-0B7043FA2D3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09E048-6F8F-3CC4-477E-93BA1E27FB5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A597B5-C2C6-49F9-AC93-532359D1FF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0786820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 descr="preencoded.png">
            <a:extLst>
              <a:ext uri="{FF2B5EF4-FFF2-40B4-BE49-F238E27FC236}">
                <a16:creationId xmlns:a16="http://schemas.microsoft.com/office/drawing/2014/main" id="{BA5D5A72-CB6F-F8DE-E2C9-90459C8C3DC1}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</a:extLst>
          </p:cNvPr>
          <p:cNvSpPr/>
          <p:nvPr userDrawn="1"/>
        </p:nvSpPr>
        <p:spPr>
          <a:xfrm>
            <a:off x="1600201" y="1153228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</a:extLst>
          </p:cNvPr>
          <p:cNvSpPr/>
          <p:nvPr userDrawn="1"/>
        </p:nvSpPr>
        <p:spPr>
          <a:xfrm>
            <a:off x="2795588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03092" y="1984248"/>
            <a:ext cx="5385816" cy="1225296"/>
          </a:xfrm>
        </p:spPr>
        <p:txBody>
          <a:bodyPr tIns="0" anchor="t">
            <a:no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49496" y="3483864"/>
            <a:ext cx="3493008" cy="878908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 descr="preencoded.png">
            <a:extLst>
              <a:ext uri="{FF2B5EF4-FFF2-40B4-BE49-F238E27FC236}">
                <a16:creationId xmlns:a16="http://schemas.microsoft.com/office/drawing/2014/main" id="{EFFAEAD9-58A9-096B-C6D0-58F7AD08EB20}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9616" y="1901952"/>
            <a:ext cx="5693664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616" y="2770632"/>
            <a:ext cx="5693664" cy="3122168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35EFB42-020B-1DF4-3D42-26092CE45F08}"/>
              </a:ext>
            </a:extLst>
          </p:cNvPr>
          <p:cNvSpPr/>
          <p:nvPr userDrawn="1"/>
        </p:nvSpPr>
        <p:spPr>
          <a:xfrm>
            <a:off x="0" y="3427336"/>
            <a:ext cx="3430200" cy="3430665"/>
          </a:xfrm>
          <a:custGeom>
            <a:avLst/>
            <a:gdLst>
              <a:gd name="connsiteX0" fmla="*/ 0 w 3430200"/>
              <a:gd name="connsiteY0" fmla="*/ 0 h 3430665"/>
              <a:gd name="connsiteX1" fmla="*/ 3430200 w 3430200"/>
              <a:gd name="connsiteY1" fmla="*/ 0 h 3430665"/>
              <a:gd name="connsiteX2" fmla="*/ 3430200 w 3430200"/>
              <a:gd name="connsiteY2" fmla="*/ 3430665 h 3430665"/>
              <a:gd name="connsiteX3" fmla="*/ 0 w 3430200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0200" h="3430665">
                <a:moveTo>
                  <a:pt x="0" y="0"/>
                </a:moveTo>
                <a:lnTo>
                  <a:pt x="3430200" y="0"/>
                </a:lnTo>
                <a:lnTo>
                  <a:pt x="3430200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B4DD322-D1E0-74CB-BBFF-057426E58EBC}"/>
              </a:ext>
            </a:extLst>
          </p:cNvPr>
          <p:cNvSpPr/>
          <p:nvPr userDrawn="1"/>
        </p:nvSpPr>
        <p:spPr>
          <a:xfrm>
            <a:off x="0" y="3427336"/>
            <a:ext cx="3430200" cy="3430665"/>
          </a:xfrm>
          <a:custGeom>
            <a:avLst/>
            <a:gdLst>
              <a:gd name="connsiteX0" fmla="*/ 3430200 w 3430200"/>
              <a:gd name="connsiteY0" fmla="*/ 0 h 3430665"/>
              <a:gd name="connsiteX1" fmla="*/ 3430200 w 3430200"/>
              <a:gd name="connsiteY1" fmla="*/ 3430665 h 3430665"/>
              <a:gd name="connsiteX2" fmla="*/ 0 w 3430200"/>
              <a:gd name="connsiteY2" fmla="*/ 3430665 h 3430665"/>
              <a:gd name="connsiteX3" fmla="*/ 0 w 3430200"/>
              <a:gd name="connsiteY3" fmla="*/ 3417531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0200" h="3430665">
                <a:moveTo>
                  <a:pt x="3430200" y="0"/>
                </a:moveTo>
                <a:lnTo>
                  <a:pt x="3430200" y="3430665"/>
                </a:lnTo>
                <a:lnTo>
                  <a:pt x="0" y="3430665"/>
                </a:lnTo>
                <a:lnTo>
                  <a:pt x="0" y="341753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11D3FCE-EC92-8558-A3E5-04DB12477A3B}"/>
              </a:ext>
            </a:extLst>
          </p:cNvPr>
          <p:cNvSpPr/>
          <p:nvPr userDrawn="1"/>
        </p:nvSpPr>
        <p:spPr>
          <a:xfrm>
            <a:off x="1" y="1"/>
            <a:ext cx="3423785" cy="3437345"/>
          </a:xfrm>
          <a:custGeom>
            <a:avLst/>
            <a:gdLst>
              <a:gd name="connsiteX0" fmla="*/ 0 w 3423785"/>
              <a:gd name="connsiteY0" fmla="*/ 0 h 3437345"/>
              <a:gd name="connsiteX1" fmla="*/ 3423785 w 3423785"/>
              <a:gd name="connsiteY1" fmla="*/ 0 h 3437345"/>
              <a:gd name="connsiteX2" fmla="*/ 3423785 w 3423785"/>
              <a:gd name="connsiteY2" fmla="*/ 3437345 h 3437345"/>
              <a:gd name="connsiteX3" fmla="*/ 0 w 342378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3785" h="3437345">
                <a:moveTo>
                  <a:pt x="0" y="0"/>
                </a:moveTo>
                <a:lnTo>
                  <a:pt x="3423785" y="0"/>
                </a:lnTo>
                <a:lnTo>
                  <a:pt x="342378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4224528" y="2276856"/>
            <a:ext cx="6766560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4224528" y="3222752"/>
            <a:ext cx="6766560" cy="2700528"/>
          </a:xfrm>
        </p:spPr>
        <p:txBody>
          <a:bodyPr>
            <a:noAutofit/>
          </a:bodyPr>
          <a:lstStyle>
            <a:lvl1pPr marL="0" indent="0">
              <a:buNone/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 userDrawn="1">
            <p:ph type="ftr" sz="quarter" idx="11"/>
          </p:nvPr>
        </p:nvSpPr>
        <p:spPr>
          <a:xfrm>
            <a:off x="4224528" y="457200"/>
            <a:ext cx="3200400" cy="274320"/>
          </a:xfrm>
        </p:spPr>
        <p:txBody>
          <a:bodyPr>
            <a:noAutofit/>
          </a:bodyPr>
          <a:lstStyle/>
          <a:p>
            <a:r>
              <a:rPr lang="en-IN"/>
              <a:t>QR Code Generator using Python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17CBC9E-B934-828F-2AE5-211CEF5B1D25}"/>
              </a:ext>
            </a:extLst>
          </p:cNvPr>
          <p:cNvSpPr/>
          <p:nvPr userDrawn="1"/>
        </p:nvSpPr>
        <p:spPr>
          <a:xfrm>
            <a:off x="1" y="869"/>
            <a:ext cx="3423785" cy="3436477"/>
          </a:xfrm>
          <a:custGeom>
            <a:avLst/>
            <a:gdLst>
              <a:gd name="connsiteX0" fmla="*/ 0 w 3423785"/>
              <a:gd name="connsiteY0" fmla="*/ 0 h 3436477"/>
              <a:gd name="connsiteX1" fmla="*/ 3423785 w 3423785"/>
              <a:gd name="connsiteY1" fmla="*/ 3436477 h 3436477"/>
              <a:gd name="connsiteX2" fmla="*/ 0 w 3423785"/>
              <a:gd name="connsiteY2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3785" h="3436477">
                <a:moveTo>
                  <a:pt x="0" y="0"/>
                </a:moveTo>
                <a:lnTo>
                  <a:pt x="3423785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2183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3D352B04-96E6-839B-9D92-EE98385C4D49}"/>
              </a:ext>
            </a:extLst>
          </p:cNvPr>
          <p:cNvSpPr/>
          <p:nvPr userDrawn="1"/>
        </p:nvSpPr>
        <p:spPr>
          <a:xfrm>
            <a:off x="2062836" y="686475"/>
            <a:ext cx="7774629" cy="6193018"/>
          </a:xfrm>
          <a:custGeom>
            <a:avLst/>
            <a:gdLst>
              <a:gd name="connsiteX0" fmla="*/ 3887320 w 7774629"/>
              <a:gd name="connsiteY0" fmla="*/ 0 h 6193018"/>
              <a:gd name="connsiteX1" fmla="*/ 7774629 w 7774629"/>
              <a:gd name="connsiteY1" fmla="*/ 3884811 h 6193018"/>
              <a:gd name="connsiteX2" fmla="*/ 7774629 w 7774629"/>
              <a:gd name="connsiteY2" fmla="*/ 6193018 h 6193018"/>
              <a:gd name="connsiteX3" fmla="*/ 0 w 7774629"/>
              <a:gd name="connsiteY3" fmla="*/ 6193018 h 6193018"/>
              <a:gd name="connsiteX4" fmla="*/ 0 w 7774629"/>
              <a:gd name="connsiteY4" fmla="*/ 3884811 h 6193018"/>
              <a:gd name="connsiteX5" fmla="*/ 3887320 w 7774629"/>
              <a:gd name="connsiteY5" fmla="*/ 0 h 6193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74629" h="6193018">
                <a:moveTo>
                  <a:pt x="3887320" y="0"/>
                </a:moveTo>
                <a:cubicBezTo>
                  <a:pt x="6034243" y="0"/>
                  <a:pt x="7774629" y="1739299"/>
                  <a:pt x="7774629" y="3884811"/>
                </a:cubicBezTo>
                <a:lnTo>
                  <a:pt x="7774629" y="6193018"/>
                </a:lnTo>
                <a:lnTo>
                  <a:pt x="0" y="6193018"/>
                </a:lnTo>
                <a:lnTo>
                  <a:pt x="0" y="3884811"/>
                </a:lnTo>
                <a:cubicBezTo>
                  <a:pt x="0" y="1739299"/>
                  <a:pt x="1740414" y="0"/>
                  <a:pt x="3887320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99000"/>
            </a:schemeClr>
          </a:solidFill>
          <a:ln w="543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723D98FB-5EB7-A8DF-8470-B23A80D669E4}"/>
              </a:ext>
            </a:extLst>
          </p:cNvPr>
          <p:cNvSpPr/>
          <p:nvPr userDrawn="1"/>
        </p:nvSpPr>
        <p:spPr>
          <a:xfrm>
            <a:off x="7610252" y="1"/>
            <a:ext cx="2273668" cy="3147998"/>
          </a:xfrm>
          <a:custGeom>
            <a:avLst/>
            <a:gdLst>
              <a:gd name="connsiteX0" fmla="*/ 183295 w 2273668"/>
              <a:gd name="connsiteY0" fmla="*/ 0 h 3147998"/>
              <a:gd name="connsiteX1" fmla="*/ 2273668 w 2273668"/>
              <a:gd name="connsiteY1" fmla="*/ 0 h 3147998"/>
              <a:gd name="connsiteX2" fmla="*/ 2273668 w 2273668"/>
              <a:gd name="connsiteY2" fmla="*/ 3147998 h 3147998"/>
              <a:gd name="connsiteX3" fmla="*/ 2096300 w 2273668"/>
              <a:gd name="connsiteY3" fmla="*/ 3147998 h 3147998"/>
              <a:gd name="connsiteX4" fmla="*/ 2033714 w 2273668"/>
              <a:gd name="connsiteY4" fmla="*/ 3144814 h 3147998"/>
              <a:gd name="connsiteX5" fmla="*/ 0 w 2273668"/>
              <a:gd name="connsiteY5" fmla="*/ 886966 h 3147998"/>
              <a:gd name="connsiteX6" fmla="*/ 178732 w 2273668"/>
              <a:gd name="connsiteY6" fmla="*/ 9417 h 314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73668" h="3147998">
                <a:moveTo>
                  <a:pt x="183295" y="0"/>
                </a:moveTo>
                <a:lnTo>
                  <a:pt x="2273668" y="0"/>
                </a:lnTo>
                <a:lnTo>
                  <a:pt x="2273668" y="3147998"/>
                </a:lnTo>
                <a:lnTo>
                  <a:pt x="2096300" y="3147998"/>
                </a:lnTo>
                <a:lnTo>
                  <a:pt x="2033714" y="3144814"/>
                </a:lnTo>
                <a:cubicBezTo>
                  <a:pt x="895944" y="3028420"/>
                  <a:pt x="0" y="2060597"/>
                  <a:pt x="0" y="886966"/>
                </a:cubicBezTo>
                <a:cubicBezTo>
                  <a:pt x="0" y="576250"/>
                  <a:pt x="63712" y="279606"/>
                  <a:pt x="178732" y="941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4550F3CE-BAE9-3916-42CA-F4D906FA5173}"/>
              </a:ext>
            </a:extLst>
          </p:cNvPr>
          <p:cNvSpPr/>
          <p:nvPr userDrawn="1"/>
        </p:nvSpPr>
        <p:spPr>
          <a:xfrm>
            <a:off x="9883919" y="2"/>
            <a:ext cx="2254928" cy="3141557"/>
          </a:xfrm>
          <a:custGeom>
            <a:avLst/>
            <a:gdLst>
              <a:gd name="connsiteX0" fmla="*/ 0 w 2254928"/>
              <a:gd name="connsiteY0" fmla="*/ 0 h 3141557"/>
              <a:gd name="connsiteX1" fmla="*/ 2080472 w 2254928"/>
              <a:gd name="connsiteY1" fmla="*/ 0 h 3141557"/>
              <a:gd name="connsiteX2" fmla="*/ 2154269 w 2254928"/>
              <a:gd name="connsiteY2" fmla="*/ 202607 h 3141557"/>
              <a:gd name="connsiteX3" fmla="*/ 2254928 w 2254928"/>
              <a:gd name="connsiteY3" fmla="*/ 871976 h 3141557"/>
              <a:gd name="connsiteX4" fmla="*/ 231934 w 2254928"/>
              <a:gd name="connsiteY4" fmla="*/ 3128339 h 3141557"/>
              <a:gd name="connsiteX5" fmla="*/ 19 w 2254928"/>
              <a:gd name="connsiteY5" fmla="*/ 3141557 h 3141557"/>
              <a:gd name="connsiteX6" fmla="*/ 0 w 2254928"/>
              <a:gd name="connsiteY6" fmla="*/ 3141557 h 3141557"/>
              <a:gd name="connsiteX7" fmla="*/ 0 w 2254928"/>
              <a:gd name="connsiteY7" fmla="*/ 2729990 h 3141557"/>
              <a:gd name="connsiteX8" fmla="*/ 0 w 2254928"/>
              <a:gd name="connsiteY8" fmla="*/ 2344136 h 3141557"/>
              <a:gd name="connsiteX9" fmla="*/ 0 w 2254928"/>
              <a:gd name="connsiteY9" fmla="*/ 1983167 h 3141557"/>
              <a:gd name="connsiteX10" fmla="*/ 0 w 2254928"/>
              <a:gd name="connsiteY10" fmla="*/ 1646252 h 3141557"/>
              <a:gd name="connsiteX11" fmla="*/ 0 w 2254928"/>
              <a:gd name="connsiteY11" fmla="*/ 1332565 h 3141557"/>
              <a:gd name="connsiteX12" fmla="*/ 0 w 2254928"/>
              <a:gd name="connsiteY12" fmla="*/ 1041273 h 3141557"/>
              <a:gd name="connsiteX13" fmla="*/ 0 w 2254928"/>
              <a:gd name="connsiteY13" fmla="*/ 771549 h 3141557"/>
              <a:gd name="connsiteX14" fmla="*/ 0 w 2254928"/>
              <a:gd name="connsiteY14" fmla="*/ 522561 h 3141557"/>
              <a:gd name="connsiteX15" fmla="*/ 0 w 2254928"/>
              <a:gd name="connsiteY15" fmla="*/ 293482 h 3141557"/>
              <a:gd name="connsiteX16" fmla="*/ 0 w 2254928"/>
              <a:gd name="connsiteY16" fmla="*/ 83481 h 3141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54928" h="3141557">
                <a:moveTo>
                  <a:pt x="0" y="0"/>
                </a:moveTo>
                <a:lnTo>
                  <a:pt x="2080472" y="0"/>
                </a:lnTo>
                <a:lnTo>
                  <a:pt x="2154269" y="202607"/>
                </a:lnTo>
                <a:cubicBezTo>
                  <a:pt x="2219730" y="414134"/>
                  <a:pt x="2254928" y="638939"/>
                  <a:pt x="2254928" y="871976"/>
                </a:cubicBezTo>
                <a:cubicBezTo>
                  <a:pt x="2254928" y="2045607"/>
                  <a:pt x="1374977" y="3005515"/>
                  <a:pt x="231934" y="3128339"/>
                </a:cubicBezTo>
                <a:lnTo>
                  <a:pt x="19" y="3141557"/>
                </a:lnTo>
                <a:lnTo>
                  <a:pt x="0" y="3141557"/>
                </a:lnTo>
                <a:lnTo>
                  <a:pt x="0" y="2729990"/>
                </a:lnTo>
                <a:lnTo>
                  <a:pt x="0" y="2344136"/>
                </a:lnTo>
                <a:lnTo>
                  <a:pt x="0" y="1983167"/>
                </a:lnTo>
                <a:lnTo>
                  <a:pt x="0" y="1646252"/>
                </a:lnTo>
                <a:lnTo>
                  <a:pt x="0" y="1332565"/>
                </a:lnTo>
                <a:lnTo>
                  <a:pt x="0" y="1041273"/>
                </a:lnTo>
                <a:lnTo>
                  <a:pt x="0" y="771549"/>
                </a:lnTo>
                <a:lnTo>
                  <a:pt x="0" y="522561"/>
                </a:lnTo>
                <a:lnTo>
                  <a:pt x="0" y="293482"/>
                </a:lnTo>
                <a:lnTo>
                  <a:pt x="0" y="8348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D83F65A0-0C52-48AD-DC5D-B5D3BF3CC188}"/>
              </a:ext>
            </a:extLst>
          </p:cNvPr>
          <p:cNvSpPr/>
          <p:nvPr userDrawn="1"/>
        </p:nvSpPr>
        <p:spPr>
          <a:xfrm>
            <a:off x="8395730" y="2"/>
            <a:ext cx="2959203" cy="2352793"/>
          </a:xfrm>
          <a:custGeom>
            <a:avLst/>
            <a:gdLst>
              <a:gd name="connsiteX0" fmla="*/ 289830 w 2959203"/>
              <a:gd name="connsiteY0" fmla="*/ 0 h 2352793"/>
              <a:gd name="connsiteX1" fmla="*/ 2669374 w 2959203"/>
              <a:gd name="connsiteY1" fmla="*/ 0 h 2352793"/>
              <a:gd name="connsiteX2" fmla="*/ 2706511 w 2959203"/>
              <a:gd name="connsiteY2" fmla="*/ 49584 h 2352793"/>
              <a:gd name="connsiteX3" fmla="*/ 2951565 w 2959203"/>
              <a:gd name="connsiteY3" fmla="*/ 724493 h 2352793"/>
              <a:gd name="connsiteX4" fmla="*/ 2959203 w 2959203"/>
              <a:gd name="connsiteY4" fmla="*/ 875514 h 2352793"/>
              <a:gd name="connsiteX5" fmla="*/ 2959203 w 2959203"/>
              <a:gd name="connsiteY5" fmla="*/ 875554 h 2352793"/>
              <a:gd name="connsiteX6" fmla="*/ 2951565 w 2959203"/>
              <a:gd name="connsiteY6" fmla="*/ 1026575 h 2352793"/>
              <a:gd name="connsiteX7" fmla="*/ 1479602 w 2959203"/>
              <a:gd name="connsiteY7" fmla="*/ 2352793 h 2352793"/>
              <a:gd name="connsiteX8" fmla="*/ 0 w 2959203"/>
              <a:gd name="connsiteY8" fmla="*/ 875534 h 2352793"/>
              <a:gd name="connsiteX9" fmla="*/ 252694 w 2959203"/>
              <a:gd name="connsiteY9" fmla="*/ 49584 h 2352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959203" h="2352793">
                <a:moveTo>
                  <a:pt x="289830" y="0"/>
                </a:moveTo>
                <a:lnTo>
                  <a:pt x="2669374" y="0"/>
                </a:lnTo>
                <a:lnTo>
                  <a:pt x="2706511" y="49584"/>
                </a:lnTo>
                <a:cubicBezTo>
                  <a:pt x="2839459" y="246061"/>
                  <a:pt x="2926309" y="476187"/>
                  <a:pt x="2951565" y="724493"/>
                </a:cubicBezTo>
                <a:lnTo>
                  <a:pt x="2959203" y="875514"/>
                </a:lnTo>
                <a:lnTo>
                  <a:pt x="2959203" y="875554"/>
                </a:lnTo>
                <a:lnTo>
                  <a:pt x="2951565" y="1026575"/>
                </a:lnTo>
                <a:cubicBezTo>
                  <a:pt x="2875795" y="1771492"/>
                  <a:pt x="2245691" y="2352793"/>
                  <a:pt x="1479602" y="2352793"/>
                </a:cubicBezTo>
                <a:cubicBezTo>
                  <a:pt x="662440" y="2352793"/>
                  <a:pt x="0" y="1691401"/>
                  <a:pt x="0" y="875534"/>
                </a:cubicBezTo>
                <a:cubicBezTo>
                  <a:pt x="0" y="569583"/>
                  <a:pt x="93156" y="285356"/>
                  <a:pt x="252694" y="495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F8FA7F58-C470-6376-9DB1-DE7034C491E8}"/>
              </a:ext>
            </a:extLst>
          </p:cNvPr>
          <p:cNvSpPr/>
          <p:nvPr userDrawn="1"/>
        </p:nvSpPr>
        <p:spPr>
          <a:xfrm>
            <a:off x="1390854" y="3130662"/>
            <a:ext cx="3106248" cy="3748831"/>
          </a:xfrm>
          <a:custGeom>
            <a:avLst/>
            <a:gdLst>
              <a:gd name="connsiteX0" fmla="*/ 0 w 3106248"/>
              <a:gd name="connsiteY0" fmla="*/ 0 h 3748831"/>
              <a:gd name="connsiteX1" fmla="*/ 3106248 w 3106248"/>
              <a:gd name="connsiteY1" fmla="*/ 3748831 h 3748831"/>
              <a:gd name="connsiteX2" fmla="*/ 0 w 3106248"/>
              <a:gd name="connsiteY2" fmla="*/ 3748831 h 3748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06248" h="3748831">
                <a:moveTo>
                  <a:pt x="0" y="0"/>
                </a:moveTo>
                <a:lnTo>
                  <a:pt x="3106248" y="3748831"/>
                </a:lnTo>
                <a:lnTo>
                  <a:pt x="0" y="3748831"/>
                </a:lnTo>
                <a:close/>
              </a:path>
            </a:pathLst>
          </a:custGeom>
          <a:solidFill>
            <a:schemeClr val="accent2">
              <a:alpha val="99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B27C9E57-563E-7980-7B3C-45FAD9C386F4}"/>
              </a:ext>
            </a:extLst>
          </p:cNvPr>
          <p:cNvSpPr/>
          <p:nvPr userDrawn="1"/>
        </p:nvSpPr>
        <p:spPr>
          <a:xfrm>
            <a:off x="0" y="3130661"/>
            <a:ext cx="1400640" cy="3748832"/>
          </a:xfrm>
          <a:custGeom>
            <a:avLst/>
            <a:gdLst>
              <a:gd name="connsiteX0" fmla="*/ 1400640 w 1400640"/>
              <a:gd name="connsiteY0" fmla="*/ 0 h 3748832"/>
              <a:gd name="connsiteX1" fmla="*/ 1400640 w 1400640"/>
              <a:gd name="connsiteY1" fmla="*/ 3748832 h 3748832"/>
              <a:gd name="connsiteX2" fmla="*/ 0 w 1400640"/>
              <a:gd name="connsiteY2" fmla="*/ 3748832 h 3748832"/>
              <a:gd name="connsiteX3" fmla="*/ 0 w 1400640"/>
              <a:gd name="connsiteY3" fmla="*/ 1684743 h 3748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0640" h="3748832">
                <a:moveTo>
                  <a:pt x="1400640" y="0"/>
                </a:moveTo>
                <a:lnTo>
                  <a:pt x="1400640" y="3748832"/>
                </a:lnTo>
                <a:lnTo>
                  <a:pt x="0" y="3748832"/>
                </a:lnTo>
                <a:lnTo>
                  <a:pt x="0" y="168474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3776472"/>
            <a:ext cx="6400800" cy="768096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95600" y="4718304"/>
            <a:ext cx="6400800" cy="512064"/>
          </a:xfrm>
        </p:spPr>
        <p:txBody>
          <a:bodyPr lIns="0" tIns="0" rIns="0" bIns="0">
            <a:noAutofit/>
          </a:bodyPr>
          <a:lstStyle>
            <a:lvl1pPr marL="0" indent="0" algn="ctr">
              <a:spcBef>
                <a:spcPts val="0"/>
              </a:spcBef>
              <a:buNone/>
              <a:defRPr sz="2400">
                <a:solidFill>
                  <a:schemeClr val="accent6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2459EA3C-8B88-5F1F-531E-7DA7DE55710B}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9496" y="2103120"/>
            <a:ext cx="11119104" cy="4434840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IN"/>
              <a:t>QR Code Generator using Python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804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B0C0F070-237F-C60F-3458-4D4D9BA0A222}"/>
              </a:ext>
            </a:extLst>
          </p:cNvPr>
          <p:cNvSpPr/>
          <p:nvPr userDrawn="1"/>
        </p:nvSpPr>
        <p:spPr>
          <a:xfrm>
            <a:off x="9866106" y="0"/>
            <a:ext cx="2325894" cy="2180854"/>
          </a:xfrm>
          <a:custGeom>
            <a:avLst/>
            <a:gdLst>
              <a:gd name="connsiteX0" fmla="*/ 2066927 w 2325894"/>
              <a:gd name="connsiteY0" fmla="*/ 0 h 2180854"/>
              <a:gd name="connsiteX1" fmla="*/ 2098882 w 2325894"/>
              <a:gd name="connsiteY1" fmla="*/ 0 h 2180854"/>
              <a:gd name="connsiteX2" fmla="*/ 2128893 w 2325894"/>
              <a:gd name="connsiteY2" fmla="*/ 44463 h 2180854"/>
              <a:gd name="connsiteX3" fmla="*/ 2269798 w 2325894"/>
              <a:gd name="connsiteY3" fmla="*/ 120493 h 2180854"/>
              <a:gd name="connsiteX4" fmla="*/ 2325894 w 2325894"/>
              <a:gd name="connsiteY4" fmla="*/ 126162 h 2180854"/>
              <a:gd name="connsiteX5" fmla="*/ 2325894 w 2325894"/>
              <a:gd name="connsiteY5" fmla="*/ 149263 h 2180854"/>
              <a:gd name="connsiteX6" fmla="*/ 2265120 w 2325894"/>
              <a:gd name="connsiteY6" fmla="*/ 143117 h 2180854"/>
              <a:gd name="connsiteX7" fmla="*/ 2075647 w 2325894"/>
              <a:gd name="connsiteY7" fmla="*/ 16048 h 2180854"/>
              <a:gd name="connsiteX8" fmla="*/ 1926448 w 2325894"/>
              <a:gd name="connsiteY8" fmla="*/ 0 h 2180854"/>
              <a:gd name="connsiteX9" fmla="*/ 1950522 w 2325894"/>
              <a:gd name="connsiteY9" fmla="*/ 0 h 2180854"/>
              <a:gd name="connsiteX10" fmla="*/ 1952130 w 2325894"/>
              <a:gd name="connsiteY10" fmla="*/ 5167 h 2180854"/>
              <a:gd name="connsiteX11" fmla="*/ 2244242 w 2325894"/>
              <a:gd name="connsiteY11" fmla="*/ 244834 h 2180854"/>
              <a:gd name="connsiteX12" fmla="*/ 2325894 w 2325894"/>
              <a:gd name="connsiteY12" fmla="*/ 253091 h 2180854"/>
              <a:gd name="connsiteX13" fmla="*/ 2325894 w 2325894"/>
              <a:gd name="connsiteY13" fmla="*/ 276192 h 2180854"/>
              <a:gd name="connsiteX14" fmla="*/ 2239598 w 2325894"/>
              <a:gd name="connsiteY14" fmla="*/ 267464 h 2180854"/>
              <a:gd name="connsiteX15" fmla="*/ 1930848 w 2325894"/>
              <a:gd name="connsiteY15" fmla="*/ 14141 h 2180854"/>
              <a:gd name="connsiteX16" fmla="*/ 1794114 w 2325894"/>
              <a:gd name="connsiteY16" fmla="*/ 0 h 2180854"/>
              <a:gd name="connsiteX17" fmla="*/ 1818202 w 2325894"/>
              <a:gd name="connsiteY17" fmla="*/ 0 h 2180854"/>
              <a:gd name="connsiteX18" fmla="*/ 1835170 w 2325894"/>
              <a:gd name="connsiteY18" fmla="*/ 54535 h 2180854"/>
              <a:gd name="connsiteX19" fmla="*/ 2218687 w 2325894"/>
              <a:gd name="connsiteY19" fmla="*/ 369191 h 2180854"/>
              <a:gd name="connsiteX20" fmla="*/ 2325894 w 2325894"/>
              <a:gd name="connsiteY20" fmla="*/ 380032 h 2180854"/>
              <a:gd name="connsiteX21" fmla="*/ 2325894 w 2325894"/>
              <a:gd name="connsiteY21" fmla="*/ 403132 h 2180854"/>
              <a:gd name="connsiteX22" fmla="*/ 2214043 w 2325894"/>
              <a:gd name="connsiteY22" fmla="*/ 391825 h 2180854"/>
              <a:gd name="connsiteX23" fmla="*/ 1813889 w 2325894"/>
              <a:gd name="connsiteY23" fmla="*/ 63559 h 2180854"/>
              <a:gd name="connsiteX24" fmla="*/ 1661683 w 2325894"/>
              <a:gd name="connsiteY24" fmla="*/ 0 h 2180854"/>
              <a:gd name="connsiteX25" fmla="*/ 1685874 w 2325894"/>
              <a:gd name="connsiteY25" fmla="*/ 0 h 2180854"/>
              <a:gd name="connsiteX26" fmla="*/ 1718212 w 2325894"/>
              <a:gd name="connsiteY26" fmla="*/ 103965 h 2180854"/>
              <a:gd name="connsiteX27" fmla="*/ 2193133 w 2325894"/>
              <a:gd name="connsiteY27" fmla="*/ 493659 h 2180854"/>
              <a:gd name="connsiteX28" fmla="*/ 2325894 w 2325894"/>
              <a:gd name="connsiteY28" fmla="*/ 507083 h 2180854"/>
              <a:gd name="connsiteX29" fmla="*/ 2325894 w 2325894"/>
              <a:gd name="connsiteY29" fmla="*/ 530183 h 2180854"/>
              <a:gd name="connsiteX30" fmla="*/ 2188450 w 2325894"/>
              <a:gd name="connsiteY30" fmla="*/ 516288 h 2180854"/>
              <a:gd name="connsiteX31" fmla="*/ 1696817 w 2325894"/>
              <a:gd name="connsiteY31" fmla="*/ 112939 h 2180854"/>
              <a:gd name="connsiteX32" fmla="*/ 1531553 w 2325894"/>
              <a:gd name="connsiteY32" fmla="*/ 0 h 2180854"/>
              <a:gd name="connsiteX33" fmla="*/ 1554659 w 2325894"/>
              <a:gd name="connsiteY33" fmla="*/ 0 h 2180854"/>
              <a:gd name="connsiteX34" fmla="*/ 1555243 w 2325894"/>
              <a:gd name="connsiteY34" fmla="*/ 5776 h 2180854"/>
              <a:gd name="connsiteX35" fmla="*/ 2245588 w 2325894"/>
              <a:gd name="connsiteY35" fmla="*/ 629962 h 2180854"/>
              <a:gd name="connsiteX36" fmla="*/ 2325894 w 2325894"/>
              <a:gd name="connsiteY36" fmla="*/ 634030 h 2180854"/>
              <a:gd name="connsiteX37" fmla="*/ 2325894 w 2325894"/>
              <a:gd name="connsiteY37" fmla="*/ 657131 h 2180854"/>
              <a:gd name="connsiteX38" fmla="*/ 2243214 w 2325894"/>
              <a:gd name="connsiteY38" fmla="*/ 652943 h 2180854"/>
              <a:gd name="connsiteX39" fmla="*/ 1532607 w 2325894"/>
              <a:gd name="connsiteY39" fmla="*/ 10419 h 2180854"/>
              <a:gd name="connsiteX40" fmla="*/ 1404609 w 2325894"/>
              <a:gd name="connsiteY40" fmla="*/ 0 h 2180854"/>
              <a:gd name="connsiteX41" fmla="*/ 1427709 w 2325894"/>
              <a:gd name="connsiteY41" fmla="*/ 0 h 2180854"/>
              <a:gd name="connsiteX42" fmla="*/ 1430873 w 2325894"/>
              <a:gd name="connsiteY42" fmla="*/ 31287 h 2180854"/>
              <a:gd name="connsiteX43" fmla="*/ 2232606 w 2325894"/>
              <a:gd name="connsiteY43" fmla="*/ 756233 h 2180854"/>
              <a:gd name="connsiteX44" fmla="*/ 2325894 w 2325894"/>
              <a:gd name="connsiteY44" fmla="*/ 760959 h 2180854"/>
              <a:gd name="connsiteX45" fmla="*/ 2325894 w 2325894"/>
              <a:gd name="connsiteY45" fmla="*/ 784060 h 2180854"/>
              <a:gd name="connsiteX46" fmla="*/ 2230270 w 2325894"/>
              <a:gd name="connsiteY46" fmla="*/ 779216 h 2180854"/>
              <a:gd name="connsiteX47" fmla="*/ 1408246 w 2325894"/>
              <a:gd name="connsiteY47" fmla="*/ 35964 h 2180854"/>
              <a:gd name="connsiteX48" fmla="*/ 1274343 w 2325894"/>
              <a:gd name="connsiteY48" fmla="*/ 0 h 2180854"/>
              <a:gd name="connsiteX49" fmla="*/ 1300756 w 2325894"/>
              <a:gd name="connsiteY49" fmla="*/ 0 h 2180854"/>
              <a:gd name="connsiteX50" fmla="*/ 1306507 w 2325894"/>
              <a:gd name="connsiteY50" fmla="*/ 56884 h 2180854"/>
              <a:gd name="connsiteX51" fmla="*/ 2219643 w 2325894"/>
              <a:gd name="connsiteY51" fmla="*/ 882640 h 2180854"/>
              <a:gd name="connsiteX52" fmla="*/ 2325894 w 2325894"/>
              <a:gd name="connsiteY52" fmla="*/ 888022 h 2180854"/>
              <a:gd name="connsiteX53" fmla="*/ 2325894 w 2325894"/>
              <a:gd name="connsiteY53" fmla="*/ 911123 h 2180854"/>
              <a:gd name="connsiteX54" fmla="*/ 2217286 w 2325894"/>
              <a:gd name="connsiteY54" fmla="*/ 905621 h 2180854"/>
              <a:gd name="connsiteX55" fmla="*/ 1283761 w 2325894"/>
              <a:gd name="connsiteY55" fmla="*/ 61528 h 2180854"/>
              <a:gd name="connsiteX56" fmla="*/ 1146071 w 2325894"/>
              <a:gd name="connsiteY56" fmla="*/ 0 h 2180854"/>
              <a:gd name="connsiteX57" fmla="*/ 1169414 w 2325894"/>
              <a:gd name="connsiteY57" fmla="*/ 0 h 2180854"/>
              <a:gd name="connsiteX58" fmla="*/ 1182030 w 2325894"/>
              <a:gd name="connsiteY58" fmla="*/ 82429 h 2180854"/>
              <a:gd name="connsiteX59" fmla="*/ 2206679 w 2325894"/>
              <a:gd name="connsiteY59" fmla="*/ 1008912 h 2180854"/>
              <a:gd name="connsiteX60" fmla="*/ 2325894 w 2325894"/>
              <a:gd name="connsiteY60" fmla="*/ 1014951 h 2180854"/>
              <a:gd name="connsiteX61" fmla="*/ 2325894 w 2325894"/>
              <a:gd name="connsiteY61" fmla="*/ 1038052 h 2180854"/>
              <a:gd name="connsiteX62" fmla="*/ 2204323 w 2325894"/>
              <a:gd name="connsiteY62" fmla="*/ 1031893 h 2180854"/>
              <a:gd name="connsiteX63" fmla="*/ 1159398 w 2325894"/>
              <a:gd name="connsiteY63" fmla="*/ 87072 h 2180854"/>
              <a:gd name="connsiteX64" fmla="*/ 1017789 w 2325894"/>
              <a:gd name="connsiteY64" fmla="*/ 0 h 2180854"/>
              <a:gd name="connsiteX65" fmla="*/ 1041132 w 2325894"/>
              <a:gd name="connsiteY65" fmla="*/ 0 h 2180854"/>
              <a:gd name="connsiteX66" fmla="*/ 1057661 w 2325894"/>
              <a:gd name="connsiteY66" fmla="*/ 107992 h 2180854"/>
              <a:gd name="connsiteX67" fmla="*/ 2193716 w 2325894"/>
              <a:gd name="connsiteY67" fmla="*/ 1135208 h 2180854"/>
              <a:gd name="connsiteX68" fmla="*/ 2325894 w 2325894"/>
              <a:gd name="connsiteY68" fmla="*/ 1141903 h 2180854"/>
              <a:gd name="connsiteX69" fmla="*/ 2325894 w 2325894"/>
              <a:gd name="connsiteY69" fmla="*/ 1165004 h 2180854"/>
              <a:gd name="connsiteX70" fmla="*/ 2191361 w 2325894"/>
              <a:gd name="connsiteY70" fmla="*/ 1158189 h 2180854"/>
              <a:gd name="connsiteX71" fmla="*/ 1035029 w 2325894"/>
              <a:gd name="connsiteY71" fmla="*/ 112636 h 2180854"/>
              <a:gd name="connsiteX72" fmla="*/ 889397 w 2325894"/>
              <a:gd name="connsiteY72" fmla="*/ 0 h 2180854"/>
              <a:gd name="connsiteX73" fmla="*/ 912837 w 2325894"/>
              <a:gd name="connsiteY73" fmla="*/ 0 h 2180854"/>
              <a:gd name="connsiteX74" fmla="*/ 933296 w 2325894"/>
              <a:gd name="connsiteY74" fmla="*/ 133667 h 2180854"/>
              <a:gd name="connsiteX75" fmla="*/ 2180754 w 2325894"/>
              <a:gd name="connsiteY75" fmla="*/ 1261608 h 2180854"/>
              <a:gd name="connsiteX76" fmla="*/ 2325894 w 2325894"/>
              <a:gd name="connsiteY76" fmla="*/ 1268960 h 2180854"/>
              <a:gd name="connsiteX77" fmla="*/ 2325894 w 2325894"/>
              <a:gd name="connsiteY77" fmla="*/ 1292061 h 2180854"/>
              <a:gd name="connsiteX78" fmla="*/ 2178378 w 2325894"/>
              <a:gd name="connsiteY78" fmla="*/ 1284588 h 2180854"/>
              <a:gd name="connsiteX79" fmla="*/ 910550 w 2325894"/>
              <a:gd name="connsiteY79" fmla="*/ 138199 h 2180854"/>
              <a:gd name="connsiteX80" fmla="*/ 761929 w 2325894"/>
              <a:gd name="connsiteY80" fmla="*/ 0 h 2180854"/>
              <a:gd name="connsiteX81" fmla="*/ 785032 w 2325894"/>
              <a:gd name="connsiteY81" fmla="*/ 0 h 2180854"/>
              <a:gd name="connsiteX82" fmla="*/ 785312 w 2325894"/>
              <a:gd name="connsiteY82" fmla="*/ 5523 h 2180854"/>
              <a:gd name="connsiteX83" fmla="*/ 2167790 w 2325894"/>
              <a:gd name="connsiteY83" fmla="*/ 1387884 h 2180854"/>
              <a:gd name="connsiteX84" fmla="*/ 2325894 w 2325894"/>
              <a:gd name="connsiteY84" fmla="*/ 1395894 h 2180854"/>
              <a:gd name="connsiteX85" fmla="*/ 2325894 w 2325894"/>
              <a:gd name="connsiteY85" fmla="*/ 1418995 h 2180854"/>
              <a:gd name="connsiteX86" fmla="*/ 2165434 w 2325894"/>
              <a:gd name="connsiteY86" fmla="*/ 1410866 h 2180854"/>
              <a:gd name="connsiteX87" fmla="*/ 762328 w 2325894"/>
              <a:gd name="connsiteY87" fmla="*/ 7877 h 2180854"/>
              <a:gd name="connsiteX88" fmla="*/ 634980 w 2325894"/>
              <a:gd name="connsiteY88" fmla="*/ 0 h 2180854"/>
              <a:gd name="connsiteX89" fmla="*/ 658083 w 2325894"/>
              <a:gd name="connsiteY89" fmla="*/ 0 h 2180854"/>
              <a:gd name="connsiteX90" fmla="*/ 659019 w 2325894"/>
              <a:gd name="connsiteY90" fmla="*/ 18476 h 2180854"/>
              <a:gd name="connsiteX91" fmla="*/ 2154827 w 2325894"/>
              <a:gd name="connsiteY91" fmla="*/ 1514157 h 2180854"/>
              <a:gd name="connsiteX92" fmla="*/ 2325894 w 2325894"/>
              <a:gd name="connsiteY92" fmla="*/ 1522823 h 2180854"/>
              <a:gd name="connsiteX93" fmla="*/ 2325894 w 2325894"/>
              <a:gd name="connsiteY93" fmla="*/ 1545924 h 2180854"/>
              <a:gd name="connsiteX94" fmla="*/ 2152472 w 2325894"/>
              <a:gd name="connsiteY94" fmla="*/ 1537138 h 2180854"/>
              <a:gd name="connsiteX95" fmla="*/ 636036 w 2325894"/>
              <a:gd name="connsiteY95" fmla="*/ 20831 h 2180854"/>
              <a:gd name="connsiteX96" fmla="*/ 507911 w 2325894"/>
              <a:gd name="connsiteY96" fmla="*/ 0 h 2180854"/>
              <a:gd name="connsiteX97" fmla="*/ 531128 w 2325894"/>
              <a:gd name="connsiteY97" fmla="*/ 0 h 2180854"/>
              <a:gd name="connsiteX98" fmla="*/ 532727 w 2325894"/>
              <a:gd name="connsiteY98" fmla="*/ 31559 h 2180854"/>
              <a:gd name="connsiteX99" fmla="*/ 2141864 w 2325894"/>
              <a:gd name="connsiteY99" fmla="*/ 1640562 h 2180854"/>
              <a:gd name="connsiteX100" fmla="*/ 2325894 w 2325894"/>
              <a:gd name="connsiteY100" fmla="*/ 1649885 h 2180854"/>
              <a:gd name="connsiteX101" fmla="*/ 2325894 w 2325894"/>
              <a:gd name="connsiteY101" fmla="*/ 1672981 h 2180854"/>
              <a:gd name="connsiteX102" fmla="*/ 2139488 w 2325894"/>
              <a:gd name="connsiteY102" fmla="*/ 1663539 h 2180854"/>
              <a:gd name="connsiteX103" fmla="*/ 509624 w 2325894"/>
              <a:gd name="connsiteY103" fmla="*/ 33818 h 2180854"/>
              <a:gd name="connsiteX104" fmla="*/ 380961 w 2325894"/>
              <a:gd name="connsiteY104" fmla="*/ 0 h 2180854"/>
              <a:gd name="connsiteX105" fmla="*/ 404065 w 2325894"/>
              <a:gd name="connsiteY105" fmla="*/ 0 h 2180854"/>
              <a:gd name="connsiteX106" fmla="*/ 406316 w 2325894"/>
              <a:gd name="connsiteY106" fmla="*/ 44437 h 2180854"/>
              <a:gd name="connsiteX107" fmla="*/ 2128900 w 2325894"/>
              <a:gd name="connsiteY107" fmla="*/ 1766854 h 2180854"/>
              <a:gd name="connsiteX108" fmla="*/ 2325894 w 2325894"/>
              <a:gd name="connsiteY108" fmla="*/ 1776833 h 2180854"/>
              <a:gd name="connsiteX109" fmla="*/ 2325894 w 2325894"/>
              <a:gd name="connsiteY109" fmla="*/ 1799934 h 2180854"/>
              <a:gd name="connsiteX110" fmla="*/ 2126525 w 2325894"/>
              <a:gd name="connsiteY110" fmla="*/ 1789835 h 2180854"/>
              <a:gd name="connsiteX111" fmla="*/ 383332 w 2325894"/>
              <a:gd name="connsiteY111" fmla="*/ 46792 h 2180854"/>
              <a:gd name="connsiteX112" fmla="*/ 254013 w 2325894"/>
              <a:gd name="connsiteY112" fmla="*/ 0 h 2180854"/>
              <a:gd name="connsiteX113" fmla="*/ 277116 w 2325894"/>
              <a:gd name="connsiteY113" fmla="*/ 0 h 2180854"/>
              <a:gd name="connsiteX114" fmla="*/ 280023 w 2325894"/>
              <a:gd name="connsiteY114" fmla="*/ 57371 h 2180854"/>
              <a:gd name="connsiteX115" fmla="*/ 2115917 w 2325894"/>
              <a:gd name="connsiteY115" fmla="*/ 1893125 h 2180854"/>
              <a:gd name="connsiteX116" fmla="*/ 2325894 w 2325894"/>
              <a:gd name="connsiteY116" fmla="*/ 1903762 h 2180854"/>
              <a:gd name="connsiteX117" fmla="*/ 2325894 w 2325894"/>
              <a:gd name="connsiteY117" fmla="*/ 1926863 h 2180854"/>
              <a:gd name="connsiteX118" fmla="*/ 2113563 w 2325894"/>
              <a:gd name="connsiteY118" fmla="*/ 1916107 h 2180854"/>
              <a:gd name="connsiteX119" fmla="*/ 257040 w 2325894"/>
              <a:gd name="connsiteY119" fmla="*/ 59745 h 2180854"/>
              <a:gd name="connsiteX120" fmla="*/ 126949 w 2325894"/>
              <a:gd name="connsiteY120" fmla="*/ 0 h 2180854"/>
              <a:gd name="connsiteX121" fmla="*/ 150160 w 2325894"/>
              <a:gd name="connsiteY121" fmla="*/ 0 h 2180854"/>
              <a:gd name="connsiteX122" fmla="*/ 153729 w 2325894"/>
              <a:gd name="connsiteY122" fmla="*/ 70454 h 2180854"/>
              <a:gd name="connsiteX123" fmla="*/ 2102955 w 2325894"/>
              <a:gd name="connsiteY123" fmla="*/ 2019530 h 2180854"/>
              <a:gd name="connsiteX124" fmla="*/ 2325894 w 2325894"/>
              <a:gd name="connsiteY124" fmla="*/ 2030824 h 2180854"/>
              <a:gd name="connsiteX125" fmla="*/ 2325894 w 2325894"/>
              <a:gd name="connsiteY125" fmla="*/ 2053925 h 2180854"/>
              <a:gd name="connsiteX126" fmla="*/ 2100598 w 2325894"/>
              <a:gd name="connsiteY126" fmla="*/ 2042512 h 2180854"/>
              <a:gd name="connsiteX127" fmla="*/ 130633 w 2325894"/>
              <a:gd name="connsiteY127" fmla="*/ 72714 h 2180854"/>
              <a:gd name="connsiteX128" fmla="*/ 0 w 2325894"/>
              <a:gd name="connsiteY128" fmla="*/ 0 h 2180854"/>
              <a:gd name="connsiteX129" fmla="*/ 23103 w 2325894"/>
              <a:gd name="connsiteY129" fmla="*/ 0 h 2180854"/>
              <a:gd name="connsiteX130" fmla="*/ 27324 w 2325894"/>
              <a:gd name="connsiteY130" fmla="*/ 83311 h 2180854"/>
              <a:gd name="connsiteX131" fmla="*/ 2089991 w 2325894"/>
              <a:gd name="connsiteY131" fmla="*/ 2145803 h 2180854"/>
              <a:gd name="connsiteX132" fmla="*/ 2325894 w 2325894"/>
              <a:gd name="connsiteY132" fmla="*/ 2157753 h 2180854"/>
              <a:gd name="connsiteX133" fmla="*/ 2325894 w 2325894"/>
              <a:gd name="connsiteY133" fmla="*/ 2180854 h 2180854"/>
              <a:gd name="connsiteX134" fmla="*/ 2087636 w 2325894"/>
              <a:gd name="connsiteY134" fmla="*/ 2168784 h 2180854"/>
              <a:gd name="connsiteX135" fmla="*/ 4341 w 2325894"/>
              <a:gd name="connsiteY135" fmla="*/ 85667 h 218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</a:cxnLst>
            <a:rect l="l" t="t" r="r" b="b"/>
            <a:pathLst>
              <a:path w="2325894" h="2180854">
                <a:moveTo>
                  <a:pt x="2066927" y="0"/>
                </a:moveTo>
                <a:lnTo>
                  <a:pt x="2098882" y="0"/>
                </a:lnTo>
                <a:lnTo>
                  <a:pt x="2128893" y="44463"/>
                </a:lnTo>
                <a:cubicBezTo>
                  <a:pt x="2166753" y="82308"/>
                  <a:pt x="2215417" y="109341"/>
                  <a:pt x="2269798" y="120493"/>
                </a:cubicBezTo>
                <a:lnTo>
                  <a:pt x="2325894" y="126162"/>
                </a:lnTo>
                <a:lnTo>
                  <a:pt x="2325894" y="149263"/>
                </a:lnTo>
                <a:lnTo>
                  <a:pt x="2265120" y="143117"/>
                </a:lnTo>
                <a:cubicBezTo>
                  <a:pt x="2186576" y="127002"/>
                  <a:pt x="2119077" y="80290"/>
                  <a:pt x="2075647" y="16048"/>
                </a:cubicBezTo>
                <a:close/>
                <a:moveTo>
                  <a:pt x="1926448" y="0"/>
                </a:moveTo>
                <a:lnTo>
                  <a:pt x="1950522" y="0"/>
                </a:lnTo>
                <a:lnTo>
                  <a:pt x="1952130" y="5167"/>
                </a:lnTo>
                <a:cubicBezTo>
                  <a:pt x="2003529" y="126455"/>
                  <a:pt x="2112323" y="217766"/>
                  <a:pt x="2244242" y="244834"/>
                </a:cubicBezTo>
                <a:lnTo>
                  <a:pt x="2325894" y="253091"/>
                </a:lnTo>
                <a:lnTo>
                  <a:pt x="2325894" y="276192"/>
                </a:lnTo>
                <a:lnTo>
                  <a:pt x="2239598" y="267464"/>
                </a:lnTo>
                <a:cubicBezTo>
                  <a:pt x="2100173" y="238852"/>
                  <a:pt x="1985178" y="142334"/>
                  <a:pt x="1930848" y="14141"/>
                </a:cubicBezTo>
                <a:close/>
                <a:moveTo>
                  <a:pt x="1794114" y="0"/>
                </a:moveTo>
                <a:lnTo>
                  <a:pt x="1818202" y="0"/>
                </a:lnTo>
                <a:lnTo>
                  <a:pt x="1835170" y="54535"/>
                </a:lnTo>
                <a:cubicBezTo>
                  <a:pt x="1902650" y="213778"/>
                  <a:pt x="2045483" y="333656"/>
                  <a:pt x="2218687" y="369191"/>
                </a:cubicBezTo>
                <a:lnTo>
                  <a:pt x="2325894" y="380032"/>
                </a:lnTo>
                <a:lnTo>
                  <a:pt x="2325894" y="403132"/>
                </a:lnTo>
                <a:lnTo>
                  <a:pt x="2214043" y="391825"/>
                </a:lnTo>
                <a:cubicBezTo>
                  <a:pt x="2033333" y="354761"/>
                  <a:pt x="1884299" y="229720"/>
                  <a:pt x="1813889" y="63559"/>
                </a:cubicBezTo>
                <a:close/>
                <a:moveTo>
                  <a:pt x="1661683" y="0"/>
                </a:moveTo>
                <a:lnTo>
                  <a:pt x="1685874" y="0"/>
                </a:lnTo>
                <a:lnTo>
                  <a:pt x="1718212" y="103965"/>
                </a:lnTo>
                <a:cubicBezTo>
                  <a:pt x="1801772" y="301203"/>
                  <a:pt x="1978643" y="449654"/>
                  <a:pt x="2193133" y="493659"/>
                </a:cubicBezTo>
                <a:lnTo>
                  <a:pt x="2325894" y="507083"/>
                </a:lnTo>
                <a:lnTo>
                  <a:pt x="2325894" y="530183"/>
                </a:lnTo>
                <a:lnTo>
                  <a:pt x="2188450" y="516288"/>
                </a:lnTo>
                <a:cubicBezTo>
                  <a:pt x="1966399" y="470740"/>
                  <a:pt x="1783312" y="317082"/>
                  <a:pt x="1696817" y="112939"/>
                </a:cubicBezTo>
                <a:close/>
                <a:moveTo>
                  <a:pt x="1531553" y="0"/>
                </a:moveTo>
                <a:lnTo>
                  <a:pt x="1554659" y="0"/>
                </a:lnTo>
                <a:lnTo>
                  <a:pt x="1555243" y="5776"/>
                </a:lnTo>
                <a:cubicBezTo>
                  <a:pt x="1623483" y="338327"/>
                  <a:pt x="1902268" y="594992"/>
                  <a:pt x="2245588" y="629962"/>
                </a:cubicBezTo>
                <a:lnTo>
                  <a:pt x="2325894" y="634030"/>
                </a:lnTo>
                <a:lnTo>
                  <a:pt x="2325894" y="657131"/>
                </a:lnTo>
                <a:lnTo>
                  <a:pt x="2243214" y="652943"/>
                </a:lnTo>
                <a:cubicBezTo>
                  <a:pt x="1889750" y="616944"/>
                  <a:pt x="1602834" y="352727"/>
                  <a:pt x="1532607" y="10419"/>
                </a:cubicBezTo>
                <a:close/>
                <a:moveTo>
                  <a:pt x="1404609" y="0"/>
                </a:moveTo>
                <a:lnTo>
                  <a:pt x="1427709" y="0"/>
                </a:lnTo>
                <a:lnTo>
                  <a:pt x="1430873" y="31287"/>
                </a:lnTo>
                <a:cubicBezTo>
                  <a:pt x="1510102" y="417452"/>
                  <a:pt x="1833798" y="715609"/>
                  <a:pt x="2232606" y="756233"/>
                </a:cubicBezTo>
                <a:lnTo>
                  <a:pt x="2325894" y="760959"/>
                </a:lnTo>
                <a:lnTo>
                  <a:pt x="2325894" y="784060"/>
                </a:lnTo>
                <a:lnTo>
                  <a:pt x="2230270" y="779216"/>
                </a:lnTo>
                <a:cubicBezTo>
                  <a:pt x="1821463" y="737574"/>
                  <a:pt x="1489501" y="431938"/>
                  <a:pt x="1408246" y="35964"/>
                </a:cubicBezTo>
                <a:close/>
                <a:moveTo>
                  <a:pt x="1274343" y="0"/>
                </a:moveTo>
                <a:lnTo>
                  <a:pt x="1300756" y="0"/>
                </a:lnTo>
                <a:lnTo>
                  <a:pt x="1306507" y="56884"/>
                </a:lnTo>
                <a:cubicBezTo>
                  <a:pt x="1396745" y="496788"/>
                  <a:pt x="1765420" y="836372"/>
                  <a:pt x="2219643" y="882640"/>
                </a:cubicBezTo>
                <a:lnTo>
                  <a:pt x="2325894" y="888022"/>
                </a:lnTo>
                <a:lnTo>
                  <a:pt x="2325894" y="911123"/>
                </a:lnTo>
                <a:lnTo>
                  <a:pt x="2217286" y="905621"/>
                </a:lnTo>
                <a:cubicBezTo>
                  <a:pt x="1752979" y="858324"/>
                  <a:pt x="1376027" y="511189"/>
                  <a:pt x="1283761" y="61528"/>
                </a:cubicBezTo>
                <a:close/>
                <a:moveTo>
                  <a:pt x="1146071" y="0"/>
                </a:moveTo>
                <a:lnTo>
                  <a:pt x="1169414" y="0"/>
                </a:lnTo>
                <a:lnTo>
                  <a:pt x="1182030" y="82429"/>
                </a:lnTo>
                <a:cubicBezTo>
                  <a:pt x="1283296" y="576000"/>
                  <a:pt x="1697029" y="957001"/>
                  <a:pt x="2206679" y="1008912"/>
                </a:cubicBezTo>
                <a:lnTo>
                  <a:pt x="2325894" y="1014951"/>
                </a:lnTo>
                <a:lnTo>
                  <a:pt x="2325894" y="1038052"/>
                </a:lnTo>
                <a:lnTo>
                  <a:pt x="2204323" y="1031893"/>
                </a:lnTo>
                <a:cubicBezTo>
                  <a:pt x="1684600" y="978953"/>
                  <a:pt x="1262670" y="590398"/>
                  <a:pt x="1159398" y="87072"/>
                </a:cubicBezTo>
                <a:close/>
                <a:moveTo>
                  <a:pt x="1017789" y="0"/>
                </a:moveTo>
                <a:lnTo>
                  <a:pt x="1041132" y="0"/>
                </a:lnTo>
                <a:lnTo>
                  <a:pt x="1057661" y="107992"/>
                </a:lnTo>
                <a:cubicBezTo>
                  <a:pt x="1169939" y="655229"/>
                  <a:pt x="1628650" y="1077653"/>
                  <a:pt x="2193716" y="1135208"/>
                </a:cubicBezTo>
                <a:lnTo>
                  <a:pt x="2325894" y="1141903"/>
                </a:lnTo>
                <a:lnTo>
                  <a:pt x="2325894" y="1165004"/>
                </a:lnTo>
                <a:lnTo>
                  <a:pt x="2191361" y="1158189"/>
                </a:lnTo>
                <a:cubicBezTo>
                  <a:pt x="1616222" y="1099606"/>
                  <a:pt x="1149313" y="669630"/>
                  <a:pt x="1035029" y="112636"/>
                </a:cubicBezTo>
                <a:close/>
                <a:moveTo>
                  <a:pt x="889397" y="0"/>
                </a:moveTo>
                <a:lnTo>
                  <a:pt x="912837" y="0"/>
                </a:lnTo>
                <a:lnTo>
                  <a:pt x="933296" y="133667"/>
                </a:lnTo>
                <a:cubicBezTo>
                  <a:pt x="1056582" y="734570"/>
                  <a:pt x="1560272" y="1198411"/>
                  <a:pt x="2180754" y="1261608"/>
                </a:cubicBezTo>
                <a:lnTo>
                  <a:pt x="2325894" y="1268960"/>
                </a:lnTo>
                <a:lnTo>
                  <a:pt x="2325894" y="1292061"/>
                </a:lnTo>
                <a:lnTo>
                  <a:pt x="2178378" y="1284588"/>
                </a:lnTo>
                <a:cubicBezTo>
                  <a:pt x="1547742" y="1220351"/>
                  <a:pt x="1035844" y="748879"/>
                  <a:pt x="910550" y="138199"/>
                </a:cubicBezTo>
                <a:close/>
                <a:moveTo>
                  <a:pt x="761929" y="0"/>
                </a:moveTo>
                <a:lnTo>
                  <a:pt x="785032" y="0"/>
                </a:lnTo>
                <a:lnTo>
                  <a:pt x="785312" y="5523"/>
                </a:lnTo>
                <a:cubicBezTo>
                  <a:pt x="859466" y="733364"/>
                  <a:pt x="1439889" y="1313736"/>
                  <a:pt x="2167790" y="1387884"/>
                </a:cubicBezTo>
                <a:lnTo>
                  <a:pt x="2325894" y="1395894"/>
                </a:lnTo>
                <a:lnTo>
                  <a:pt x="2325894" y="1418995"/>
                </a:lnTo>
                <a:lnTo>
                  <a:pt x="2165434" y="1410866"/>
                </a:lnTo>
                <a:cubicBezTo>
                  <a:pt x="1426685" y="1335609"/>
                  <a:pt x="837591" y="746563"/>
                  <a:pt x="762328" y="7877"/>
                </a:cubicBezTo>
                <a:close/>
                <a:moveTo>
                  <a:pt x="634980" y="0"/>
                </a:moveTo>
                <a:lnTo>
                  <a:pt x="658083" y="0"/>
                </a:lnTo>
                <a:lnTo>
                  <a:pt x="659019" y="18476"/>
                </a:lnTo>
                <a:cubicBezTo>
                  <a:pt x="739252" y="805990"/>
                  <a:pt x="1367247" y="1433931"/>
                  <a:pt x="2154827" y="1514157"/>
                </a:cubicBezTo>
                <a:lnTo>
                  <a:pt x="2325894" y="1522823"/>
                </a:lnTo>
                <a:lnTo>
                  <a:pt x="2325894" y="1545924"/>
                </a:lnTo>
                <a:lnTo>
                  <a:pt x="2152472" y="1537138"/>
                </a:lnTo>
                <a:cubicBezTo>
                  <a:pt x="1354048" y="1455804"/>
                  <a:pt x="717377" y="819188"/>
                  <a:pt x="636036" y="20831"/>
                </a:cubicBezTo>
                <a:close/>
                <a:moveTo>
                  <a:pt x="507911" y="0"/>
                </a:moveTo>
                <a:lnTo>
                  <a:pt x="531128" y="0"/>
                </a:lnTo>
                <a:lnTo>
                  <a:pt x="532727" y="31559"/>
                </a:lnTo>
                <a:cubicBezTo>
                  <a:pt x="619037" y="878744"/>
                  <a:pt x="1294606" y="1554259"/>
                  <a:pt x="2141864" y="1640562"/>
                </a:cubicBezTo>
                <a:lnTo>
                  <a:pt x="2325894" y="1649885"/>
                </a:lnTo>
                <a:lnTo>
                  <a:pt x="2325894" y="1672981"/>
                </a:lnTo>
                <a:lnTo>
                  <a:pt x="2139488" y="1663539"/>
                </a:lnTo>
                <a:cubicBezTo>
                  <a:pt x="1281294" y="1576127"/>
                  <a:pt x="597044" y="891939"/>
                  <a:pt x="509624" y="33818"/>
                </a:cubicBezTo>
                <a:close/>
                <a:moveTo>
                  <a:pt x="380961" y="0"/>
                </a:moveTo>
                <a:lnTo>
                  <a:pt x="404065" y="0"/>
                </a:lnTo>
                <a:lnTo>
                  <a:pt x="406316" y="44437"/>
                </a:lnTo>
                <a:cubicBezTo>
                  <a:pt x="498717" y="951387"/>
                  <a:pt x="1221951" y="1674473"/>
                  <a:pt x="2128900" y="1766854"/>
                </a:cubicBezTo>
                <a:lnTo>
                  <a:pt x="2325894" y="1776833"/>
                </a:lnTo>
                <a:lnTo>
                  <a:pt x="2325894" y="1799934"/>
                </a:lnTo>
                <a:lnTo>
                  <a:pt x="2126525" y="1789835"/>
                </a:lnTo>
                <a:cubicBezTo>
                  <a:pt x="1208653" y="1696346"/>
                  <a:pt x="476829" y="964585"/>
                  <a:pt x="383332" y="46792"/>
                </a:cubicBezTo>
                <a:close/>
                <a:moveTo>
                  <a:pt x="254013" y="0"/>
                </a:moveTo>
                <a:lnTo>
                  <a:pt x="277116" y="0"/>
                </a:lnTo>
                <a:lnTo>
                  <a:pt x="280023" y="57371"/>
                </a:lnTo>
                <a:cubicBezTo>
                  <a:pt x="378489" y="1023914"/>
                  <a:pt x="1149211" y="1794655"/>
                  <a:pt x="2115917" y="1893125"/>
                </a:cubicBezTo>
                <a:lnTo>
                  <a:pt x="2325894" y="1903762"/>
                </a:lnTo>
                <a:lnTo>
                  <a:pt x="2325894" y="1926863"/>
                </a:lnTo>
                <a:lnTo>
                  <a:pt x="2113563" y="1916107"/>
                </a:lnTo>
                <a:cubicBezTo>
                  <a:pt x="1136012" y="1816541"/>
                  <a:pt x="356615" y="1037211"/>
                  <a:pt x="257040" y="59745"/>
                </a:cubicBezTo>
                <a:close/>
                <a:moveTo>
                  <a:pt x="126949" y="0"/>
                </a:moveTo>
                <a:lnTo>
                  <a:pt x="150160" y="0"/>
                </a:lnTo>
                <a:lnTo>
                  <a:pt x="153729" y="70454"/>
                </a:lnTo>
                <a:cubicBezTo>
                  <a:pt x="258274" y="1096671"/>
                  <a:pt x="1076570" y="1914983"/>
                  <a:pt x="2102955" y="2019530"/>
                </a:cubicBezTo>
                <a:lnTo>
                  <a:pt x="2325894" y="2030824"/>
                </a:lnTo>
                <a:lnTo>
                  <a:pt x="2325894" y="2053925"/>
                </a:lnTo>
                <a:lnTo>
                  <a:pt x="2100598" y="2042512"/>
                </a:lnTo>
                <a:cubicBezTo>
                  <a:pt x="1063358" y="1936856"/>
                  <a:pt x="236298" y="1109866"/>
                  <a:pt x="130633" y="72714"/>
                </a:cubicBezTo>
                <a:close/>
                <a:moveTo>
                  <a:pt x="0" y="0"/>
                </a:moveTo>
                <a:lnTo>
                  <a:pt x="23103" y="0"/>
                </a:lnTo>
                <a:lnTo>
                  <a:pt x="27324" y="83311"/>
                </a:lnTo>
                <a:cubicBezTo>
                  <a:pt x="137958" y="1169290"/>
                  <a:pt x="1003916" y="2035178"/>
                  <a:pt x="2089991" y="2145803"/>
                </a:cubicBezTo>
                <a:lnTo>
                  <a:pt x="2325894" y="2157753"/>
                </a:lnTo>
                <a:lnTo>
                  <a:pt x="2325894" y="2180854"/>
                </a:lnTo>
                <a:lnTo>
                  <a:pt x="2087636" y="2168784"/>
                </a:lnTo>
                <a:cubicBezTo>
                  <a:pt x="990717" y="2057051"/>
                  <a:pt x="116084" y="1182492"/>
                  <a:pt x="4341" y="85667"/>
                </a:cubicBezTo>
                <a:close/>
              </a:path>
            </a:pathLst>
          </a:custGeom>
          <a:solidFill>
            <a:srgbClr val="E6F0FE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904" y="2825496"/>
            <a:ext cx="10680192" cy="2834640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IN"/>
              <a:t>QR Code Generator using Python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57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120" y="2395728"/>
            <a:ext cx="7013448" cy="1627632"/>
          </a:xfrm>
        </p:spPr>
        <p:txBody>
          <a:bodyPr lIns="0" tIns="0" rIns="0" bIns="0">
            <a:noAutofit/>
          </a:bodyPr>
          <a:lstStyle>
            <a:lvl1pPr algn="l">
              <a:lnSpc>
                <a:spcPct val="100000"/>
              </a:lnSpc>
              <a:defRPr sz="33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7" name="Text Placeholder 54">
            <a:extLst>
              <a:ext uri="{FF2B5EF4-FFF2-40B4-BE49-F238E27FC236}">
                <a16:creationId xmlns:a16="http://schemas.microsoft.com/office/drawing/2014/main" id="{A493C80D-2813-9E70-8901-D4B9EA4DD7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11880" y="1984248"/>
            <a:ext cx="768096" cy="1627632"/>
          </a:xfrm>
        </p:spPr>
        <p:txBody>
          <a:bodyPr lIns="91440" tIns="45720" rIns="91440" bIns="54864">
            <a:noAutofit/>
          </a:bodyPr>
          <a:lstStyle>
            <a:lvl1pPr marL="0" indent="0">
              <a:buNone/>
              <a:defRPr sz="10000" b="1"/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A2733C45-7C53-2BC5-3F62-D069650A79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89120" y="4308475"/>
            <a:ext cx="3932238" cy="58896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54">
            <a:extLst>
              <a:ext uri="{FF2B5EF4-FFF2-40B4-BE49-F238E27FC236}">
                <a16:creationId xmlns:a16="http://schemas.microsoft.com/office/drawing/2014/main" id="{B1D62231-87CB-21EC-CF8C-46276AD1F9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00616" y="3209544"/>
            <a:ext cx="768096" cy="1627632"/>
          </a:xfrm>
        </p:spPr>
        <p:txBody>
          <a:bodyPr lIns="91440" tIns="45720" rIns="91440" bIns="54864">
            <a:noAutofit/>
          </a:bodyPr>
          <a:lstStyle>
            <a:lvl1pPr marL="0" indent="0">
              <a:buNone/>
              <a:defRPr sz="10000" b="1"/>
            </a:lvl1pPr>
          </a:lstStyle>
          <a:p>
            <a:pPr lvl="0"/>
            <a:r>
              <a:rPr lang="en-US" dirty="0"/>
              <a:t>”</a:t>
            </a:r>
          </a:p>
        </p:txBody>
      </p:sp>
      <p:sp>
        <p:nvSpPr>
          <p:cNvPr id="32" name="Image 1" descr="preencoded.png">
            <a:extLst>
              <a:ext uri="{FF2B5EF4-FFF2-40B4-BE49-F238E27FC236}">
                <a16:creationId xmlns:a16="http://schemas.microsoft.com/office/drawing/2014/main" id="{2A3EC91E-4089-D366-06D3-3E66F93DFAF3}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33" name="Image 4" descr="preencoded.png">
            <a:extLst>
              <a:ext uri="{FF2B5EF4-FFF2-40B4-BE49-F238E27FC236}">
                <a16:creationId xmlns:a16="http://schemas.microsoft.com/office/drawing/2014/main" id="{EC46DC71-C12A-96C8-3FE2-AA95AB58B349}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/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</a:extLst>
          </p:cNvPr>
          <p:cNvSpPr>
            <a:spLocks/>
          </p:cNvSpPr>
          <p:nvPr userDrawn="1"/>
        </p:nvSpPr>
        <p:spPr bwMode="auto">
          <a:xfrm flipH="1">
            <a:off x="2535251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CC43996-DAC9-130F-CB05-4A8A90381D37}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04E8AF-9DFE-7077-DB36-941F6490B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B58B80-D2DB-A0A1-0362-1157E9087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IN"/>
              <a:t>QR Code Generator using Python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2C22E6-000A-05BA-5872-EF37F029A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AAAFB85-16C0-836A-1D0D-E65277CC341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8905" y="2392023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B04BFFD-8D76-D31F-232F-38A7065ACA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58905" y="4989515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1" cap="all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75A2E03A-AFB4-3868-FAB5-A24228FA8A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6885" y="5599755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3" name="Picture Placeholder 16">
            <a:extLst>
              <a:ext uri="{FF2B5EF4-FFF2-40B4-BE49-F238E27FC236}">
                <a16:creationId xmlns:a16="http://schemas.microsoft.com/office/drawing/2014/main" id="{FBADCD1B-D9E0-EA12-0DD5-22E5C60E5D6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517361" y="2392619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AD33972D-9092-4B3C-A699-07849068AF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16747" y="4990111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1" cap="all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B54F15B1-EAC3-0113-6737-C64480876C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74073" y="5600351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6" name="Picture Placeholder 16">
            <a:extLst>
              <a:ext uri="{FF2B5EF4-FFF2-40B4-BE49-F238E27FC236}">
                <a16:creationId xmlns:a16="http://schemas.microsoft.com/office/drawing/2014/main" id="{FCEED0A5-9A71-D54A-91FC-264BD71DDE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75817" y="2393215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F44A0C74-A714-A8C2-69D2-74CAD68037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74589" y="4990707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1" cap="all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7" name="Text Placeholder 20">
            <a:extLst>
              <a:ext uri="{FF2B5EF4-FFF2-40B4-BE49-F238E27FC236}">
                <a16:creationId xmlns:a16="http://schemas.microsoft.com/office/drawing/2014/main" id="{552F4682-3F02-2A70-A285-FB2D1822A4D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32529" y="5600947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9" name="Picture Placeholder 16">
            <a:extLst>
              <a:ext uri="{FF2B5EF4-FFF2-40B4-BE49-F238E27FC236}">
                <a16:creationId xmlns:a16="http://schemas.microsoft.com/office/drawing/2014/main" id="{4F0F5D16-7316-B120-F378-E3D492FEEB9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34272" y="2393215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47AC9724-9FC2-62FA-0DE7-3F9FE9B67A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32431" y="4990707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1" cap="all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0" name="Text Placeholder 20">
            <a:extLst>
              <a:ext uri="{FF2B5EF4-FFF2-40B4-BE49-F238E27FC236}">
                <a16:creationId xmlns:a16="http://schemas.microsoft.com/office/drawing/2014/main" id="{114EE337-FC29-F325-E528-A3F809B28B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90984" y="5600947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586653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4E8AF-9DFE-7077-DB36-941F6490B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539496"/>
            <a:ext cx="10671048" cy="7680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B58B80-D2DB-A0A1-0362-1157E9087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IN"/>
              <a:t>QR Code Generator using Python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2C22E6-000A-05BA-5872-EF37F029A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AAAFB85-16C0-836A-1D0D-E65277CC341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71016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B04BFFD-8D76-D31F-232F-38A7065ACA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71016" y="3191256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75A2E03A-AFB4-3868-FAB5-A24228FA8A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71016" y="3616960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Picture Placeholder 16">
            <a:extLst>
              <a:ext uri="{FF2B5EF4-FFF2-40B4-BE49-F238E27FC236}">
                <a16:creationId xmlns:a16="http://schemas.microsoft.com/office/drawing/2014/main" id="{BB749B9A-080F-37C0-08E6-909A5DA554D4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271016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4C7516E-0853-87BE-108B-697DD8E0DA7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71016" y="5790184"/>
            <a:ext cx="2029968" cy="694944"/>
          </a:xfrm>
          <a:solidFill>
            <a:schemeClr val="accent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FB1A74E1-7CEB-F501-F998-7361A20F734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71016" y="6215888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3" name="Picture Placeholder 16">
            <a:extLst>
              <a:ext uri="{FF2B5EF4-FFF2-40B4-BE49-F238E27FC236}">
                <a16:creationId xmlns:a16="http://schemas.microsoft.com/office/drawing/2014/main" id="{FBADCD1B-D9E0-EA12-0DD5-22E5C60E5D6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828288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AD33972D-9092-4B3C-A699-07849068AF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28288" y="3191256"/>
            <a:ext cx="2029968" cy="694944"/>
          </a:xfrm>
          <a:solidFill>
            <a:schemeClr val="accent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B54F15B1-EAC3-0113-6737-C64480876C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28288" y="3616960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1" name="Picture Placeholder 16">
            <a:extLst>
              <a:ext uri="{FF2B5EF4-FFF2-40B4-BE49-F238E27FC236}">
                <a16:creationId xmlns:a16="http://schemas.microsoft.com/office/drawing/2014/main" id="{B5D5100A-3D51-45DB-3A84-9E7FB85261E3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828288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B775B771-678A-D917-7FE0-5DA7A23CCE2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28288" y="5790184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8" name="Text Placeholder 20">
            <a:extLst>
              <a:ext uri="{FF2B5EF4-FFF2-40B4-BE49-F238E27FC236}">
                <a16:creationId xmlns:a16="http://schemas.microsoft.com/office/drawing/2014/main" id="{AA2B9540-B92A-AD9C-C01A-B08A98BF845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828288" y="6215888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6" name="Picture Placeholder 16">
            <a:extLst>
              <a:ext uri="{FF2B5EF4-FFF2-40B4-BE49-F238E27FC236}">
                <a16:creationId xmlns:a16="http://schemas.microsoft.com/office/drawing/2014/main" id="{FCEED0A5-9A71-D54A-91FC-264BD71DDE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385560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F44A0C74-A714-A8C2-69D2-74CAD68037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85560" y="3191256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7" name="Text Placeholder 20">
            <a:extLst>
              <a:ext uri="{FF2B5EF4-FFF2-40B4-BE49-F238E27FC236}">
                <a16:creationId xmlns:a16="http://schemas.microsoft.com/office/drawing/2014/main" id="{552F4682-3F02-2A70-A285-FB2D1822A4D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85560" y="3616960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2" name="Picture Placeholder 16">
            <a:extLst>
              <a:ext uri="{FF2B5EF4-FFF2-40B4-BE49-F238E27FC236}">
                <a16:creationId xmlns:a16="http://schemas.microsoft.com/office/drawing/2014/main" id="{3D2AAC25-9404-1F6F-200C-5660F4995858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385560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AE4677E1-AC1B-AB9C-5E0C-794903DD1CE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85560" y="5790184"/>
            <a:ext cx="2029968" cy="694944"/>
          </a:xfrm>
          <a:solidFill>
            <a:schemeClr val="accent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1" name="Text Placeholder 20">
            <a:extLst>
              <a:ext uri="{FF2B5EF4-FFF2-40B4-BE49-F238E27FC236}">
                <a16:creationId xmlns:a16="http://schemas.microsoft.com/office/drawing/2014/main" id="{826BBF6C-7198-3C15-CDCB-E72B08709C1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85560" y="6215888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9" name="Picture Placeholder 16">
            <a:extLst>
              <a:ext uri="{FF2B5EF4-FFF2-40B4-BE49-F238E27FC236}">
                <a16:creationId xmlns:a16="http://schemas.microsoft.com/office/drawing/2014/main" id="{4F0F5D16-7316-B120-F378-E3D492FEEB9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942832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47AC9724-9FC2-62FA-0DE7-3F9FE9B67A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42832" y="3191256"/>
            <a:ext cx="2029968" cy="694944"/>
          </a:xfrm>
          <a:solidFill>
            <a:schemeClr val="accent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0" name="Text Placeholder 20">
            <a:extLst>
              <a:ext uri="{FF2B5EF4-FFF2-40B4-BE49-F238E27FC236}">
                <a16:creationId xmlns:a16="http://schemas.microsoft.com/office/drawing/2014/main" id="{114EE337-FC29-F325-E528-A3F809B28B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42832" y="3616960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3" name="Picture Placeholder 16">
            <a:extLst>
              <a:ext uri="{FF2B5EF4-FFF2-40B4-BE49-F238E27FC236}">
                <a16:creationId xmlns:a16="http://schemas.microsoft.com/office/drawing/2014/main" id="{90CBAA5D-3D9B-0CB5-E527-996433638BE3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942832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5B47333C-2F5E-FA7D-5DD1-191E0F421B6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42832" y="5790184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3" name="Text Placeholder 20">
            <a:extLst>
              <a:ext uri="{FF2B5EF4-FFF2-40B4-BE49-F238E27FC236}">
                <a16:creationId xmlns:a16="http://schemas.microsoft.com/office/drawing/2014/main" id="{D0AA2AE2-5A11-76D4-4D9C-B6B24D1419D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942832" y="6215888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900709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950ED98-B5D1-206C-403F-FA954F9D2CFF}"/>
              </a:ext>
            </a:extLst>
          </p:cNvPr>
          <p:cNvSpPr/>
          <p:nvPr userDrawn="1"/>
        </p:nvSpPr>
        <p:spPr>
          <a:xfrm>
            <a:off x="685338" y="3796480"/>
            <a:ext cx="2011680" cy="1517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E8643CE-01D9-3E5E-15F6-20689F775F15}"/>
              </a:ext>
            </a:extLst>
          </p:cNvPr>
          <p:cNvSpPr/>
          <p:nvPr userDrawn="1"/>
        </p:nvSpPr>
        <p:spPr>
          <a:xfrm>
            <a:off x="2900911" y="3796480"/>
            <a:ext cx="2011680" cy="15179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AF82DDD-EDEC-7D87-F43A-113C5E4A4FE7}"/>
              </a:ext>
            </a:extLst>
          </p:cNvPr>
          <p:cNvSpPr/>
          <p:nvPr userDrawn="1"/>
        </p:nvSpPr>
        <p:spPr>
          <a:xfrm>
            <a:off x="5116484" y="3796480"/>
            <a:ext cx="2011680" cy="1517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7E492E-967F-54B7-55B1-08A5E1C3615B}"/>
              </a:ext>
            </a:extLst>
          </p:cNvPr>
          <p:cNvSpPr/>
          <p:nvPr userDrawn="1"/>
        </p:nvSpPr>
        <p:spPr>
          <a:xfrm>
            <a:off x="9547629" y="3796480"/>
            <a:ext cx="2011680" cy="1517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C0053FE-E44A-CA97-F782-67FC633E722E}"/>
              </a:ext>
            </a:extLst>
          </p:cNvPr>
          <p:cNvSpPr/>
          <p:nvPr userDrawn="1"/>
        </p:nvSpPr>
        <p:spPr>
          <a:xfrm>
            <a:off x="7332057" y="3796480"/>
            <a:ext cx="2011680" cy="15179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445A0A-815D-3414-088B-C041E6742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841248"/>
            <a:ext cx="10671048" cy="7680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7B5E29-6335-83BC-FA01-FAE422D26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IN"/>
              <a:t>QR Code Generator using Python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6476D1-B61A-E9FD-E266-768B405CC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C025625F-8274-840F-6DD8-D36687CB8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338" y="2491684"/>
            <a:ext cx="2011680" cy="2825173"/>
          </a:xfr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Picture Placeholder 62">
            <a:extLst>
              <a:ext uri="{FF2B5EF4-FFF2-40B4-BE49-F238E27FC236}">
                <a16:creationId xmlns:a16="http://schemas.microsoft.com/office/drawing/2014/main" id="{2F18FBB7-2D21-7954-1324-C7D3BFE5C85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339134" y="2111058"/>
            <a:ext cx="704088" cy="7040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2EF54C35-5F8E-4E0A-AB4D-97E38121910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31058" y="3888404"/>
            <a:ext cx="1920240" cy="1371600"/>
          </a:xfrm>
          <a:noFill/>
          <a:ln>
            <a:noFill/>
          </a:ln>
        </p:spPr>
        <p:txBody>
          <a:bodyPr lIns="91440" rIns="9144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">
            <a:extLst>
              <a:ext uri="{FF2B5EF4-FFF2-40B4-BE49-F238E27FC236}">
                <a16:creationId xmlns:a16="http://schemas.microsoft.com/office/drawing/2014/main" id="{79F9AD31-B0C5-3563-C73A-8B6297FCFD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900910" y="2491684"/>
            <a:ext cx="2011680" cy="2825173"/>
          </a:xfrm>
          <a:noFill/>
          <a:ln w="12700">
            <a:solidFill>
              <a:schemeClr val="accent3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Picture Placeholder 62">
            <a:extLst>
              <a:ext uri="{FF2B5EF4-FFF2-40B4-BE49-F238E27FC236}">
                <a16:creationId xmlns:a16="http://schemas.microsoft.com/office/drawing/2014/main" id="{05E8E8EF-4954-870B-04E5-82BC660A6738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554707" y="2111058"/>
            <a:ext cx="704088" cy="704088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Text Placeholder 51">
            <a:extLst>
              <a:ext uri="{FF2B5EF4-FFF2-40B4-BE49-F238E27FC236}">
                <a16:creationId xmlns:a16="http://schemas.microsoft.com/office/drawing/2014/main" id="{75981CD1-EA26-D1CF-F19E-B58C16BA8A6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46630" y="3888404"/>
            <a:ext cx="1920240" cy="1371600"/>
          </a:xfrm>
          <a:noFill/>
          <a:ln>
            <a:noFill/>
          </a:ln>
        </p:spPr>
        <p:txBody>
          <a:bodyPr lIns="91440" rIns="9144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3A09BBD1-5CBC-B0EF-71C0-054FCB989B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16484" y="2491684"/>
            <a:ext cx="2011680" cy="2825173"/>
          </a:xfr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7" name="Picture Placeholder 62">
            <a:extLst>
              <a:ext uri="{FF2B5EF4-FFF2-40B4-BE49-F238E27FC236}">
                <a16:creationId xmlns:a16="http://schemas.microsoft.com/office/drawing/2014/main" id="{4AD0C8C9-DB5A-6DC8-2729-A21F1A5CF17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770280" y="2111058"/>
            <a:ext cx="704088" cy="7040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9" name="Text Placeholder 51">
            <a:extLst>
              <a:ext uri="{FF2B5EF4-FFF2-40B4-BE49-F238E27FC236}">
                <a16:creationId xmlns:a16="http://schemas.microsoft.com/office/drawing/2014/main" id="{F02DE2DC-F65C-32A5-5821-89FB2F53C32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162204" y="3888404"/>
            <a:ext cx="1920240" cy="1371600"/>
          </a:xfrm>
          <a:noFill/>
          <a:ln>
            <a:noFill/>
          </a:ln>
        </p:spPr>
        <p:txBody>
          <a:bodyPr lIns="91440" rIns="9144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">
            <a:extLst>
              <a:ext uri="{FF2B5EF4-FFF2-40B4-BE49-F238E27FC236}">
                <a16:creationId xmlns:a16="http://schemas.microsoft.com/office/drawing/2014/main" id="{084A0326-A0B8-1723-B8BA-B015344F2D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332057" y="2491684"/>
            <a:ext cx="2011680" cy="2825173"/>
          </a:xfrm>
          <a:noFill/>
          <a:ln w="12700">
            <a:solidFill>
              <a:schemeClr val="accent3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Picture Placeholder 62">
            <a:extLst>
              <a:ext uri="{FF2B5EF4-FFF2-40B4-BE49-F238E27FC236}">
                <a16:creationId xmlns:a16="http://schemas.microsoft.com/office/drawing/2014/main" id="{139354A0-F5DF-3AC5-5E8B-A41146C26F3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985853" y="2111058"/>
            <a:ext cx="704088" cy="704088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0" name="Text Placeholder 51">
            <a:extLst>
              <a:ext uri="{FF2B5EF4-FFF2-40B4-BE49-F238E27FC236}">
                <a16:creationId xmlns:a16="http://schemas.microsoft.com/office/drawing/2014/main" id="{E9730E82-F317-686A-8777-D81705BCC70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7777" y="3888404"/>
            <a:ext cx="1920240" cy="1371600"/>
          </a:xfrm>
          <a:noFill/>
          <a:ln>
            <a:noFill/>
          </a:ln>
        </p:spPr>
        <p:txBody>
          <a:bodyPr lIns="91440" rIns="9144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">
            <a:extLst>
              <a:ext uri="{FF2B5EF4-FFF2-40B4-BE49-F238E27FC236}">
                <a16:creationId xmlns:a16="http://schemas.microsoft.com/office/drawing/2014/main" id="{0E3B57F3-1903-446F-D989-D6CA342D08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547629" y="2491684"/>
            <a:ext cx="2011680" cy="2825173"/>
          </a:xfr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Picture Placeholder 62">
            <a:extLst>
              <a:ext uri="{FF2B5EF4-FFF2-40B4-BE49-F238E27FC236}">
                <a16:creationId xmlns:a16="http://schemas.microsoft.com/office/drawing/2014/main" id="{D5BF3A8A-72F1-392E-855B-5B36E244A7F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0201425" y="2111058"/>
            <a:ext cx="704088" cy="7040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1" name="Text Placeholder 51">
            <a:extLst>
              <a:ext uri="{FF2B5EF4-FFF2-40B4-BE49-F238E27FC236}">
                <a16:creationId xmlns:a16="http://schemas.microsoft.com/office/drawing/2014/main" id="{2AED5DDC-3165-FA12-0310-E3545223E29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593349" y="3888404"/>
            <a:ext cx="1920240" cy="1371600"/>
          </a:xfrm>
          <a:noFill/>
          <a:ln>
            <a:noFill/>
          </a:ln>
        </p:spPr>
        <p:txBody>
          <a:bodyPr lIns="91440" rIns="9144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72516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2DECB02-D9CE-E57A-0604-BFF41EC38AFA}"/>
              </a:ext>
            </a:extLst>
          </p:cNvPr>
          <p:cNvSpPr/>
          <p:nvPr userDrawn="1"/>
        </p:nvSpPr>
        <p:spPr>
          <a:xfrm>
            <a:off x="0" y="0"/>
            <a:ext cx="2838450" cy="2857958"/>
          </a:xfrm>
          <a:custGeom>
            <a:avLst/>
            <a:gdLst>
              <a:gd name="connsiteX0" fmla="*/ 1971005 w 2838450"/>
              <a:gd name="connsiteY0" fmla="*/ 0 h 2857958"/>
              <a:gd name="connsiteX1" fmla="*/ 2838450 w 2838450"/>
              <a:gd name="connsiteY1" fmla="*/ 0 h 2857958"/>
              <a:gd name="connsiteX2" fmla="*/ 2838450 w 2838450"/>
              <a:gd name="connsiteY2" fmla="*/ 7240 h 2857958"/>
              <a:gd name="connsiteX3" fmla="*/ 278890 w 2838450"/>
              <a:gd name="connsiteY3" fmla="*/ 2843883 h 2857958"/>
              <a:gd name="connsiteX4" fmla="*/ 0 w 2838450"/>
              <a:gd name="connsiteY4" fmla="*/ 2857958 h 2857958"/>
              <a:gd name="connsiteX5" fmla="*/ 0 w 2838450"/>
              <a:gd name="connsiteY5" fmla="*/ 1990580 h 2857958"/>
              <a:gd name="connsiteX6" fmla="*/ 190293 w 2838450"/>
              <a:gd name="connsiteY6" fmla="*/ 1980883 h 2857958"/>
              <a:gd name="connsiteX7" fmla="*/ 1960910 w 2838450"/>
              <a:gd name="connsiteY7" fmla="*/ 200390 h 2857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38450" h="2857958">
                <a:moveTo>
                  <a:pt x="1971005" y="0"/>
                </a:moveTo>
                <a:lnTo>
                  <a:pt x="2838450" y="0"/>
                </a:lnTo>
                <a:lnTo>
                  <a:pt x="2838450" y="7240"/>
                </a:lnTo>
                <a:cubicBezTo>
                  <a:pt x="2838450" y="1484015"/>
                  <a:pt x="1716931" y="2697914"/>
                  <a:pt x="278890" y="2843883"/>
                </a:cubicBezTo>
                <a:lnTo>
                  <a:pt x="0" y="2857958"/>
                </a:lnTo>
                <a:lnTo>
                  <a:pt x="0" y="1990580"/>
                </a:lnTo>
                <a:lnTo>
                  <a:pt x="190293" y="1980883"/>
                </a:lnTo>
                <a:cubicBezTo>
                  <a:pt x="1124600" y="1885128"/>
                  <a:pt x="1866185" y="1135788"/>
                  <a:pt x="1960910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68E760EA-7D83-1DF2-A8EE-4F218084E74F}"/>
              </a:ext>
            </a:extLst>
          </p:cNvPr>
          <p:cNvSpPr/>
          <p:nvPr userDrawn="1"/>
        </p:nvSpPr>
        <p:spPr>
          <a:xfrm>
            <a:off x="1" y="-1"/>
            <a:ext cx="1970627" cy="1990267"/>
          </a:xfrm>
          <a:custGeom>
            <a:avLst/>
            <a:gdLst>
              <a:gd name="connsiteX0" fmla="*/ 0 w 1970627"/>
              <a:gd name="connsiteY0" fmla="*/ 0 h 1990267"/>
              <a:gd name="connsiteX1" fmla="*/ 1970627 w 1970627"/>
              <a:gd name="connsiteY1" fmla="*/ 0 h 1990267"/>
              <a:gd name="connsiteX2" fmla="*/ 1960534 w 1970627"/>
              <a:gd name="connsiteY2" fmla="*/ 200357 h 1990267"/>
              <a:gd name="connsiteX3" fmla="*/ 190254 w 1970627"/>
              <a:gd name="connsiteY3" fmla="*/ 1980571 h 1990267"/>
              <a:gd name="connsiteX4" fmla="*/ 0 w 1970627"/>
              <a:gd name="connsiteY4" fmla="*/ 1990267 h 1990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70627" h="1990267">
                <a:moveTo>
                  <a:pt x="0" y="0"/>
                </a:moveTo>
                <a:lnTo>
                  <a:pt x="1970627" y="0"/>
                </a:lnTo>
                <a:lnTo>
                  <a:pt x="1960534" y="200357"/>
                </a:lnTo>
                <a:cubicBezTo>
                  <a:pt x="1865827" y="1135608"/>
                  <a:pt x="1124383" y="1884831"/>
                  <a:pt x="190254" y="1980571"/>
                </a:cubicBezTo>
                <a:lnTo>
                  <a:pt x="0" y="1990267"/>
                </a:lnTo>
                <a:close/>
              </a:path>
            </a:pathLst>
          </a:custGeom>
          <a:solidFill>
            <a:srgbClr val="F5CDCE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F3F3353-78A1-F584-81A6-9513382DF18F}"/>
              </a:ext>
            </a:extLst>
          </p:cNvPr>
          <p:cNvSpPr/>
          <p:nvPr userDrawn="1"/>
        </p:nvSpPr>
        <p:spPr>
          <a:xfrm>
            <a:off x="1" y="1"/>
            <a:ext cx="1003449" cy="1013015"/>
          </a:xfrm>
          <a:custGeom>
            <a:avLst/>
            <a:gdLst>
              <a:gd name="connsiteX0" fmla="*/ 0 w 1003449"/>
              <a:gd name="connsiteY0" fmla="*/ 0 h 1013015"/>
              <a:gd name="connsiteX1" fmla="*/ 1003449 w 1003449"/>
              <a:gd name="connsiteY1" fmla="*/ 0 h 1013015"/>
              <a:gd name="connsiteX2" fmla="*/ 998306 w 1003449"/>
              <a:gd name="connsiteY2" fmla="*/ 100639 h 1013015"/>
              <a:gd name="connsiteX3" fmla="*/ 90663 w 1003449"/>
              <a:gd name="connsiteY3" fmla="*/ 1008380 h 1013015"/>
              <a:gd name="connsiteX4" fmla="*/ 0 w 1003449"/>
              <a:gd name="connsiteY4" fmla="*/ 1013015 h 1013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3449" h="1013015">
                <a:moveTo>
                  <a:pt x="0" y="0"/>
                </a:moveTo>
                <a:lnTo>
                  <a:pt x="1003449" y="0"/>
                </a:lnTo>
                <a:lnTo>
                  <a:pt x="998306" y="100639"/>
                </a:lnTo>
                <a:cubicBezTo>
                  <a:pt x="949402" y="576784"/>
                  <a:pt x="566756" y="959471"/>
                  <a:pt x="90663" y="1008380"/>
                </a:cubicBezTo>
                <a:lnTo>
                  <a:pt x="0" y="101301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1A846E-CBB1-9805-456D-0C0B89091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0" name="Image 2" descr="preencoded.png">
            <a:extLst>
              <a:ext uri="{FF2B5EF4-FFF2-40B4-BE49-F238E27FC236}">
                <a16:creationId xmlns:a16="http://schemas.microsoft.com/office/drawing/2014/main" id="{790E862E-398F-571C-EC2C-3D17164DE059}"/>
              </a:ext>
            </a:extLst>
          </p:cNvPr>
          <p:cNvSpPr/>
          <p:nvPr/>
        </p:nvSpPr>
        <p:spPr>
          <a:xfrm>
            <a:off x="1458332" y="590133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AB1DF8DE-0EED-2627-4B5E-266C0BC276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85338" y="3017520"/>
            <a:ext cx="1993392" cy="557784"/>
          </a:xfrm>
          <a:solidFill>
            <a:schemeClr val="accent3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5AE99EEE-38C4-CB2D-EEA0-8A2EB6F129E4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2900911" y="3017520"/>
            <a:ext cx="1993392" cy="557784"/>
          </a:xfrm>
          <a:solidFill>
            <a:schemeClr val="accent1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AA90F0AE-69F4-EBD3-AED1-81E98D34811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16484" y="3017520"/>
            <a:ext cx="1993392" cy="557784"/>
          </a:xfrm>
          <a:solidFill>
            <a:schemeClr val="accent3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F9E49243-B04A-D7AF-B4C7-8E1AE776F8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332057" y="3017520"/>
            <a:ext cx="1993392" cy="557784"/>
          </a:xfrm>
          <a:solidFill>
            <a:schemeClr val="accent1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4780DCD4-46DE-8C31-9F39-FC6E45FC1E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47629" y="3017520"/>
            <a:ext cx="1993392" cy="557784"/>
          </a:xfrm>
          <a:solidFill>
            <a:schemeClr val="accent3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6" name="Text Placeholder 51">
            <a:extLst>
              <a:ext uri="{FF2B5EF4-FFF2-40B4-BE49-F238E27FC236}">
                <a16:creationId xmlns:a16="http://schemas.microsoft.com/office/drawing/2014/main" id="{9FBDF935-4925-03EC-CBC9-1EBA90DF849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5338" y="4745736"/>
            <a:ext cx="1993392" cy="795528"/>
          </a:xfrm>
          <a:noFill/>
        </p:spPr>
        <p:txBody>
          <a:bodyPr lIns="0" rIns="0"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51">
            <a:extLst>
              <a:ext uri="{FF2B5EF4-FFF2-40B4-BE49-F238E27FC236}">
                <a16:creationId xmlns:a16="http://schemas.microsoft.com/office/drawing/2014/main" id="{9BB76AA7-442D-54A7-D075-C67F4743896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00911" y="4745736"/>
            <a:ext cx="1993392" cy="795528"/>
          </a:xfrm>
          <a:noFill/>
        </p:spPr>
        <p:txBody>
          <a:bodyPr lIns="0" rIns="0"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51">
            <a:extLst>
              <a:ext uri="{FF2B5EF4-FFF2-40B4-BE49-F238E27FC236}">
                <a16:creationId xmlns:a16="http://schemas.microsoft.com/office/drawing/2014/main" id="{9E419856-1586-F2D8-A1B4-F67FEE9839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116484" y="4745736"/>
            <a:ext cx="1993392" cy="795528"/>
          </a:xfrm>
          <a:noFill/>
        </p:spPr>
        <p:txBody>
          <a:bodyPr lIns="0" rIns="0"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51">
            <a:extLst>
              <a:ext uri="{FF2B5EF4-FFF2-40B4-BE49-F238E27FC236}">
                <a16:creationId xmlns:a16="http://schemas.microsoft.com/office/drawing/2014/main" id="{AED74DD2-EAE3-76BF-56B9-C04FCED1F2D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32057" y="4745736"/>
            <a:ext cx="1993392" cy="795528"/>
          </a:xfrm>
          <a:noFill/>
        </p:spPr>
        <p:txBody>
          <a:bodyPr lIns="0" rIns="0"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51">
            <a:extLst>
              <a:ext uri="{FF2B5EF4-FFF2-40B4-BE49-F238E27FC236}">
                <a16:creationId xmlns:a16="http://schemas.microsoft.com/office/drawing/2014/main" id="{0A39AD48-2F98-C0C9-DE08-CED7EBF816B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547629" y="4745736"/>
            <a:ext cx="1993392" cy="795528"/>
          </a:xfrm>
          <a:noFill/>
        </p:spPr>
        <p:txBody>
          <a:bodyPr lIns="0" rIns="0"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6BE61D7-B0A3-902B-4F58-727982880EF5}"/>
              </a:ext>
            </a:extLst>
          </p:cNvPr>
          <p:cNvCxnSpPr>
            <a:cxnSpLocks/>
          </p:cNvCxnSpPr>
          <p:nvPr userDrawn="1"/>
        </p:nvCxnSpPr>
        <p:spPr>
          <a:xfrm>
            <a:off x="739398" y="4187681"/>
            <a:ext cx="10812360" cy="0"/>
          </a:xfrm>
          <a:prstGeom prst="line">
            <a:avLst/>
          </a:prstGeom>
          <a:ln w="127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0335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6784" y="1243584"/>
            <a:ext cx="8165592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Image 0" descr="preencoded.png">
            <a:extLst>
              <a:ext uri="{FF2B5EF4-FFF2-40B4-BE49-F238E27FC236}">
                <a16:creationId xmlns:a16="http://schemas.microsoft.com/office/drawing/2014/main" id="{CD2D664E-6702-6607-A37E-2E996144917C}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951C5737-DF7E-D671-AC74-9E488335BC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 descr="preencoded.png">
            <a:extLst>
              <a:ext uri="{FF2B5EF4-FFF2-40B4-BE49-F238E27FC236}">
                <a16:creationId xmlns:a16="http://schemas.microsoft.com/office/drawing/2014/main" id="{B9036D42-A06F-E6EE-BB91-8BAF045198BE}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 descr="preencoded.png">
            <a:extLst>
              <a:ext uri="{FF2B5EF4-FFF2-40B4-BE49-F238E27FC236}">
                <a16:creationId xmlns:a16="http://schemas.microsoft.com/office/drawing/2014/main" id="{86E0540C-3355-A50D-AC61-047B54B70C6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77640" y="2330704"/>
            <a:ext cx="3822192" cy="411480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800" b="1"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85032" y="2877312"/>
            <a:ext cx="3741928" cy="3684588"/>
          </a:xfrm>
        </p:spPr>
        <p:txBody>
          <a:bodyPr lIns="45720" rIns="45720" bIns="45720">
            <a:no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046720" y="2330704"/>
            <a:ext cx="3822192" cy="411480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800" b="1"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754112" y="2877312"/>
            <a:ext cx="3741928" cy="3684588"/>
          </a:xfrm>
        </p:spPr>
        <p:txBody>
          <a:bodyPr lIns="45720" rIns="45720" bIns="45720">
            <a:no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0313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45A0A-815D-3414-088B-C041E6742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1234440"/>
            <a:ext cx="10671048" cy="7680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7B5E29-6335-83BC-FA01-FAE422D26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IN"/>
              <a:t>QR Code Generator using Python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6476D1-B61A-E9FD-E266-768B405CC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C025625F-8274-840F-6DD8-D36687CB8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3232" y="2743200"/>
            <a:ext cx="3328416" cy="3557016"/>
          </a:xfrm>
          <a:noFill/>
          <a:ln w="12700">
            <a:solidFill>
              <a:schemeClr val="accent3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Picture Placeholder 62">
            <a:extLst>
              <a:ext uri="{FF2B5EF4-FFF2-40B4-BE49-F238E27FC236}">
                <a16:creationId xmlns:a16="http://schemas.microsoft.com/office/drawing/2014/main" id="{2F18FBB7-2D21-7954-1324-C7D3BFE5C85D}"/>
              </a:ext>
            </a:extLst>
          </p:cNvPr>
          <p:cNvSpPr>
            <a:spLocks noGrp="1" noChangeAspect="1"/>
          </p:cNvSpPr>
          <p:nvPr>
            <p:ph type="pic" sz="quarter" idx="23"/>
          </p:nvPr>
        </p:nvSpPr>
        <p:spPr>
          <a:xfrm>
            <a:off x="1911096" y="2258568"/>
            <a:ext cx="932688" cy="932688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2EF54C35-5F8E-4E0A-AB4D-97E38121910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92124" y="3950208"/>
            <a:ext cx="2770632" cy="2206752"/>
          </a:xfrm>
          <a:noFill/>
        </p:spPr>
        <p:txBody>
          <a:bodyPr lIns="91440" rIns="91440" anchor="t">
            <a:noAutofit/>
          </a:bodyPr>
          <a:lstStyle>
            <a:lvl1pPr marL="347472" indent="-347472" algn="l">
              <a:spcBef>
                <a:spcPts val="360"/>
              </a:spcBef>
              <a:buFont typeface="Arial" panose="020B0604020202020204" pitchFamily="34" charset="0"/>
              <a:buChar char="•"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">
            <a:extLst>
              <a:ext uri="{FF2B5EF4-FFF2-40B4-BE49-F238E27FC236}">
                <a16:creationId xmlns:a16="http://schemas.microsoft.com/office/drawing/2014/main" id="{084A0326-A0B8-1723-B8BA-B015344F2D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43984" y="2743200"/>
            <a:ext cx="3328416" cy="3557016"/>
          </a:xfr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Picture Placeholder 62">
            <a:extLst>
              <a:ext uri="{FF2B5EF4-FFF2-40B4-BE49-F238E27FC236}">
                <a16:creationId xmlns:a16="http://schemas.microsoft.com/office/drawing/2014/main" id="{139354A0-F5DF-3AC5-5E8B-A41146C26F3C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5641848" y="2258568"/>
            <a:ext cx="932688" cy="9326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0" name="Text Placeholder 51">
            <a:extLst>
              <a:ext uri="{FF2B5EF4-FFF2-40B4-BE49-F238E27FC236}">
                <a16:creationId xmlns:a16="http://schemas.microsoft.com/office/drawing/2014/main" id="{E9730E82-F317-686A-8777-D81705BCC70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22876" y="3950208"/>
            <a:ext cx="2770632" cy="2206752"/>
          </a:xfrm>
          <a:noFill/>
        </p:spPr>
        <p:txBody>
          <a:bodyPr lIns="91440" rIns="91440" anchor="t">
            <a:noAutofit/>
          </a:bodyPr>
          <a:lstStyle>
            <a:lvl1pPr marL="347472" indent="-347472" algn="l">
              <a:spcBef>
                <a:spcPts val="360"/>
              </a:spcBef>
              <a:buFont typeface="Arial" panose="020B0604020202020204" pitchFamily="34" charset="0"/>
              <a:buChar char="•"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">
            <a:extLst>
              <a:ext uri="{FF2B5EF4-FFF2-40B4-BE49-F238E27FC236}">
                <a16:creationId xmlns:a16="http://schemas.microsoft.com/office/drawing/2014/main" id="{0E3B57F3-1903-446F-D989-D6CA342D08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092440" y="2743200"/>
            <a:ext cx="3328416" cy="3557016"/>
          </a:xfrm>
          <a:noFill/>
          <a:ln w="12700">
            <a:solidFill>
              <a:schemeClr val="accent4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Picture Placeholder 62">
            <a:extLst>
              <a:ext uri="{FF2B5EF4-FFF2-40B4-BE49-F238E27FC236}">
                <a16:creationId xmlns:a16="http://schemas.microsoft.com/office/drawing/2014/main" id="{D5BF3A8A-72F1-392E-855B-5B36E244A7FD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9290304" y="2258568"/>
            <a:ext cx="932688" cy="932688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1" name="Text Placeholder 51">
            <a:extLst>
              <a:ext uri="{FF2B5EF4-FFF2-40B4-BE49-F238E27FC236}">
                <a16:creationId xmlns:a16="http://schemas.microsoft.com/office/drawing/2014/main" id="{2AED5DDC-3165-FA12-0310-E3545223E29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371332" y="3950208"/>
            <a:ext cx="2770632" cy="2206752"/>
          </a:xfrm>
          <a:noFill/>
        </p:spPr>
        <p:txBody>
          <a:bodyPr lIns="91440" rIns="91440" anchor="t">
            <a:noAutofit/>
          </a:bodyPr>
          <a:lstStyle>
            <a:lvl1pPr marL="347472" indent="-347472" algn="l">
              <a:spcBef>
                <a:spcPts val="360"/>
              </a:spcBef>
              <a:buFont typeface="Arial" panose="020B0604020202020204" pitchFamily="34" charset="0"/>
              <a:buChar char="•"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89541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Image 2" descr="preencoded.png">
            <a:extLst>
              <a:ext uri="{FF2B5EF4-FFF2-40B4-BE49-F238E27FC236}">
                <a16:creationId xmlns:a16="http://schemas.microsoft.com/office/drawing/2014/main" id="{ABC388A2-FFC7-1A87-02FB-C97B50161FD3}"/>
              </a:ext>
            </a:extLst>
          </p:cNvPr>
          <p:cNvSpPr/>
          <p:nvPr/>
        </p:nvSpPr>
        <p:spPr>
          <a:xfrm>
            <a:off x="8758238" y="-14287"/>
            <a:ext cx="3433763" cy="3452812"/>
          </a:xfrm>
          <a:custGeom>
            <a:avLst/>
            <a:gdLst>
              <a:gd name="connsiteX0" fmla="*/ 3433763 w 3433763"/>
              <a:gd name="connsiteY0" fmla="*/ 0 h 3452812"/>
              <a:gd name="connsiteX1" fmla="*/ 3433763 w 3433763"/>
              <a:gd name="connsiteY1" fmla="*/ 3452813 h 3452812"/>
              <a:gd name="connsiteX2" fmla="*/ 0 w 3433763"/>
              <a:gd name="connsiteY2" fmla="*/ 3452813 h 3452812"/>
              <a:gd name="connsiteX3" fmla="*/ 3433763 w 3433763"/>
              <a:gd name="connsiteY3" fmla="*/ 0 h 3452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3763" h="3452812">
                <a:moveTo>
                  <a:pt x="3433763" y="0"/>
                </a:moveTo>
                <a:lnTo>
                  <a:pt x="3433763" y="3452813"/>
                </a:lnTo>
                <a:lnTo>
                  <a:pt x="0" y="3452813"/>
                </a:lnTo>
                <a:cubicBezTo>
                  <a:pt x="0" y="1545912"/>
                  <a:pt x="1537383" y="0"/>
                  <a:pt x="3433763" y="0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5" name="Image 3" descr="preencoded.png">
            <a:extLst>
              <a:ext uri="{FF2B5EF4-FFF2-40B4-BE49-F238E27FC236}">
                <a16:creationId xmlns:a16="http://schemas.microsoft.com/office/drawing/2014/main" id="{D64C4994-B525-F4C0-B74F-D5E8296DFC43}"/>
              </a:ext>
            </a:extLst>
          </p:cNvPr>
          <p:cNvSpPr/>
          <p:nvPr/>
        </p:nvSpPr>
        <p:spPr>
          <a:xfrm>
            <a:off x="8758238" y="3438525"/>
            <a:ext cx="3433763" cy="3433762"/>
          </a:xfrm>
          <a:custGeom>
            <a:avLst/>
            <a:gdLst>
              <a:gd name="connsiteX0" fmla="*/ 0 w 3433763"/>
              <a:gd name="connsiteY0" fmla="*/ 0 h 3433762"/>
              <a:gd name="connsiteX1" fmla="*/ 3433763 w 3433763"/>
              <a:gd name="connsiteY1" fmla="*/ 0 h 3433762"/>
              <a:gd name="connsiteX2" fmla="*/ 3433763 w 3433763"/>
              <a:gd name="connsiteY2" fmla="*/ 3433763 h 3433762"/>
              <a:gd name="connsiteX3" fmla="*/ 0 w 3433763"/>
              <a:gd name="connsiteY3" fmla="*/ 0 h 3433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3763" h="3433762">
                <a:moveTo>
                  <a:pt x="0" y="0"/>
                </a:moveTo>
                <a:lnTo>
                  <a:pt x="3433763" y="0"/>
                </a:lnTo>
                <a:lnTo>
                  <a:pt x="3433763" y="3433763"/>
                </a:lnTo>
                <a:cubicBezTo>
                  <a:pt x="1537383" y="3433763"/>
                  <a:pt x="0" y="18963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7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6" name="Image 4" descr="preencoded.png">
            <a:extLst>
              <a:ext uri="{FF2B5EF4-FFF2-40B4-BE49-F238E27FC236}">
                <a16:creationId xmlns:a16="http://schemas.microsoft.com/office/drawing/2014/main" id="{9019DA73-2516-F3D2-ECDB-620C90483DB3}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3" name="Image 7" descr="preencoded.png">
            <a:extLst>
              <a:ext uri="{FF2B5EF4-FFF2-40B4-BE49-F238E27FC236}">
                <a16:creationId xmlns:a16="http://schemas.microsoft.com/office/drawing/2014/main" id="{FEA70E9F-C506-413C-11EF-5915A2296643}"/>
              </a:ext>
            </a:extLst>
          </p:cNvPr>
          <p:cNvSpPr/>
          <p:nvPr/>
        </p:nvSpPr>
        <p:spPr>
          <a:xfrm flipV="1">
            <a:off x="-20086" y="4580051"/>
            <a:ext cx="2277948" cy="2277948"/>
          </a:xfrm>
          <a:custGeom>
            <a:avLst/>
            <a:gdLst>
              <a:gd name="connsiteX0" fmla="*/ 0 w 2277948"/>
              <a:gd name="connsiteY0" fmla="*/ 2277948 h 2277948"/>
              <a:gd name="connsiteX1" fmla="*/ 2277948 w 2277948"/>
              <a:gd name="connsiteY1" fmla="*/ 0 h 2277948"/>
              <a:gd name="connsiteX2" fmla="*/ 0 w 2277948"/>
              <a:gd name="connsiteY2" fmla="*/ 0 h 2277948"/>
              <a:gd name="connsiteX3" fmla="*/ 0 w 2277948"/>
              <a:gd name="connsiteY3" fmla="*/ 2277948 h 2277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77948" h="2277948">
                <a:moveTo>
                  <a:pt x="0" y="2277948"/>
                </a:moveTo>
                <a:cubicBezTo>
                  <a:pt x="1258034" y="2277948"/>
                  <a:pt x="2277948" y="1258034"/>
                  <a:pt x="2277948" y="0"/>
                </a:cubicBezTo>
                <a:lnTo>
                  <a:pt x="0" y="0"/>
                </a:lnTo>
                <a:lnTo>
                  <a:pt x="0" y="2277948"/>
                </a:lnTo>
                <a:close/>
              </a:path>
            </a:pathLst>
          </a:custGeom>
          <a:solidFill>
            <a:schemeClr val="accent4"/>
          </a:solidFill>
          <a:ln w="50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21" name="Image 2" descr="preencoded.png">
            <a:extLst>
              <a:ext uri="{FF2B5EF4-FFF2-40B4-BE49-F238E27FC236}">
                <a16:creationId xmlns:a16="http://schemas.microsoft.com/office/drawing/2014/main" id="{A8B7F1F1-806C-8D65-7340-220A0C4653C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991886" y="3441269"/>
            <a:ext cx="2200114" cy="2200114"/>
          </a:xfrm>
          <a:prstGeom prst="rect">
            <a:avLst/>
          </a:prstGeom>
        </p:spPr>
      </p:pic>
      <p:sp>
        <p:nvSpPr>
          <p:cNvPr id="54" name="Image 2" descr="preencoded.png">
            <a:extLst>
              <a:ext uri="{FF2B5EF4-FFF2-40B4-BE49-F238E27FC236}">
                <a16:creationId xmlns:a16="http://schemas.microsoft.com/office/drawing/2014/main" id="{F19C81EC-0322-58A2-C455-6E2C84D1E6E8}"/>
              </a:ext>
            </a:extLst>
          </p:cNvPr>
          <p:cNvSpPr/>
          <p:nvPr/>
        </p:nvSpPr>
        <p:spPr>
          <a:xfrm>
            <a:off x="1707959" y="5667616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8760" y="1883664"/>
            <a:ext cx="6766560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08760" y="2837688"/>
            <a:ext cx="5879592" cy="2700528"/>
          </a:xfrm>
        </p:spPr>
        <p:txBody>
          <a:bodyPr>
            <a:noAutofit/>
          </a:bodyPr>
          <a:lstStyle>
            <a:lvl1pPr marL="0" indent="0">
              <a:buNone/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F9FD95-086F-282B-820C-8CDAD4A6EEB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IN"/>
              <a:t>QR Code Generator using Python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4857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 descr="preencoded.png">
            <a:extLst>
              <a:ext uri="{FF2B5EF4-FFF2-40B4-BE49-F238E27FC236}">
                <a16:creationId xmlns:a16="http://schemas.microsoft.com/office/drawing/2014/main" id="{FEB515B5-2D9F-58E1-6E3C-CCBF105D891E}"/>
              </a:ext>
            </a:extLst>
          </p:cNvPr>
          <p:cNvSpPr/>
          <p:nvPr userDrawn="1"/>
        </p:nvSpPr>
        <p:spPr>
          <a:xfrm>
            <a:off x="7538626" y="13142"/>
            <a:ext cx="4653374" cy="6831717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5CCFEDF9-5B69-87BA-8A33-35033DA401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37234" y="-25041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7048" y="1975104"/>
            <a:ext cx="4169664" cy="667512"/>
          </a:xfrm>
        </p:spPr>
        <p:txBody>
          <a:bodyPr tIns="0" anchor="ctr">
            <a:no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45336" y="2846832"/>
            <a:ext cx="4169664" cy="2176272"/>
          </a:xfrm>
        </p:spPr>
        <p:txBody>
          <a:bodyPr lIns="91440" tIns="0" rIns="91440" bIns="0">
            <a:no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mage 0" descr="preencoded.png">
            <a:extLst>
              <a:ext uri="{FF2B5EF4-FFF2-40B4-BE49-F238E27FC236}">
                <a16:creationId xmlns:a16="http://schemas.microsoft.com/office/drawing/2014/main" id="{8D5D10FF-3DE5-39CA-FA9A-29A09DC47BFC}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BFA89E6A-8342-AE30-45E0-BC1DFE3276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08309FA-889A-E2F2-1EDA-F872245F5FDF}"/>
              </a:ext>
            </a:extLst>
          </p:cNvPr>
          <p:cNvSpPr/>
          <p:nvPr userDrawn="1"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Image 5" descr="preencoded.png">
            <a:extLst>
              <a:ext uri="{FF2B5EF4-FFF2-40B4-BE49-F238E27FC236}">
                <a16:creationId xmlns:a16="http://schemas.microsoft.com/office/drawing/2014/main" id="{D9D7EB49-4BC9-040F-C4CC-5771C5FB312B}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7" name="Image 6" descr="preencoded.png">
            <a:extLst>
              <a:ext uri="{FF2B5EF4-FFF2-40B4-BE49-F238E27FC236}">
                <a16:creationId xmlns:a16="http://schemas.microsoft.com/office/drawing/2014/main" id="{3CE04498-C285-EFB8-340C-1A064078152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QR Code Generator using Python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18" name="Title 19">
            <a:extLst>
              <a:ext uri="{FF2B5EF4-FFF2-40B4-BE49-F238E27FC236}">
                <a16:creationId xmlns:a16="http://schemas.microsoft.com/office/drawing/2014/main" id="{9CBE0ADC-7FA0-F7E3-96EF-BBACB6A90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6784" y="1243584"/>
            <a:ext cx="8165592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0F9C0517-D83A-CC55-35B8-B2F990C96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85032" y="2255520"/>
            <a:ext cx="3741928" cy="4306380"/>
          </a:xfrm>
        </p:spPr>
        <p:txBody>
          <a:bodyPr lIns="45720" rIns="45720" bIns="45720">
            <a:no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CF8BFBBE-0EAE-B647-2648-A5FB0094BF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754112" y="2255520"/>
            <a:ext cx="3741928" cy="4306380"/>
          </a:xfrm>
        </p:spPr>
        <p:txBody>
          <a:bodyPr lIns="45720" rIns="45720" bIns="45720">
            <a:no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8321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QR Code Generator using Python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QR Code Generator using Python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QR Code Generator using Python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QR Code Generator using Python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1216152"/>
            <a:ext cx="10671048" cy="7680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1792" y="457200"/>
            <a:ext cx="32004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IN"/>
              <a:t>QR Code Generator using Python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52" r:id="rId3"/>
    <p:sldLayoutId id="2147483653" r:id="rId4"/>
    <p:sldLayoutId id="2147483664" r:id="rId5"/>
    <p:sldLayoutId id="2147483667" r:id="rId6"/>
    <p:sldLayoutId id="2147483668" r:id="rId7"/>
    <p:sldLayoutId id="2147483669" r:id="rId8"/>
    <p:sldLayoutId id="2147483673" r:id="rId9"/>
    <p:sldLayoutId id="2147483670" r:id="rId10"/>
    <p:sldLayoutId id="2147483671" r:id="rId11"/>
    <p:sldLayoutId id="2147483655" r:id="rId12"/>
    <p:sldLayoutId id="2147483674" r:id="rId13"/>
    <p:sldLayoutId id="2147483675" r:id="rId14"/>
    <p:sldLayoutId id="2147483676" r:id="rId15"/>
    <p:sldLayoutId id="2147483654" r:id="rId16"/>
    <p:sldLayoutId id="2147483656" r:id="rId17"/>
    <p:sldLayoutId id="2147483657" r:id="rId18"/>
    <p:sldLayoutId id="2147483658" r:id="rId19"/>
    <p:sldLayoutId id="2147483659" r:id="rId20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44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hyperlink" Target="https://en.wikipedia.org/wiki/File:QR_Code_Version_25.svg" TargetMode="External"/><Relationship Id="rId3" Type="http://schemas.openxmlformats.org/officeDocument/2006/relationships/hyperlink" Target="https://en.wikipedia.org/wiki/File:Qr-1.svg" TargetMode="External"/><Relationship Id="rId7" Type="http://schemas.openxmlformats.org/officeDocument/2006/relationships/hyperlink" Target="https://en.wikipedia.org/wiki/File:Qr-3.svg" TargetMode="External"/><Relationship Id="rId12" Type="http://schemas.openxmlformats.org/officeDocument/2006/relationships/image" Target="../media/image15.png"/><Relationship Id="rId17" Type="http://schemas.openxmlformats.org/officeDocument/2006/relationships/audio" Target="../media/audio3.wav"/><Relationship Id="rId2" Type="http://schemas.openxmlformats.org/officeDocument/2006/relationships/audio" Target="../media/audio3.wav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hyperlink" Target="https://en.wikipedia.org/wiki/File:Qr-code-ver-10.svg" TargetMode="External"/><Relationship Id="rId5" Type="http://schemas.openxmlformats.org/officeDocument/2006/relationships/hyperlink" Target="https://en.wikipedia.org/wiki/File:Qr-2.svg" TargetMode="External"/><Relationship Id="rId15" Type="http://schemas.openxmlformats.org/officeDocument/2006/relationships/hyperlink" Target="https://en.wikipedia.org/wiki/File:Qr-code-ver-40.svg" TargetMode="External"/><Relationship Id="rId10" Type="http://schemas.openxmlformats.org/officeDocument/2006/relationships/image" Target="../media/image14.png"/><Relationship Id="rId4" Type="http://schemas.openxmlformats.org/officeDocument/2006/relationships/image" Target="../media/image11.png"/><Relationship Id="rId9" Type="http://schemas.openxmlformats.org/officeDocument/2006/relationships/hyperlink" Target="https://en.wikipedia.org/wiki/File:Qr-4.svg" TargetMode="External"/><Relationship Id="rId1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4.xml"/><Relationship Id="rId5" Type="http://schemas.microsoft.com/office/2007/relationships/hdphoto" Target="../media/hdphoto1.wdp"/><Relationship Id="rId4" Type="http://schemas.openxmlformats.org/officeDocument/2006/relationships/image" Target="../media/image19.png"/><Relationship Id="rId9" Type="http://schemas.openxmlformats.org/officeDocument/2006/relationships/audio" Target="../media/audio1.wav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0.png"/><Relationship Id="rId7" Type="http://schemas.openxmlformats.org/officeDocument/2006/relationships/image" Target="../media/image2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5" Type="http://schemas.openxmlformats.org/officeDocument/2006/relationships/hyperlink" Target="https://creativecommons.org/licenses/by-sa/3.0/" TargetMode="External"/><Relationship Id="rId10" Type="http://schemas.openxmlformats.org/officeDocument/2006/relationships/audio" Target="../media/audio1.wav"/><Relationship Id="rId4" Type="http://schemas.openxmlformats.org/officeDocument/2006/relationships/hyperlink" Target="https://en.wikipedia.org/wiki/Visual_Studio_Code" TargetMode="External"/><Relationship Id="rId9" Type="http://schemas.microsoft.com/office/2007/relationships/hdphoto" Target="../media/hdphoto2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audio" Target="../media/audio4.wav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1.png"/><Relationship Id="rId5" Type="http://schemas.microsoft.com/office/2007/relationships/hdphoto" Target="../media/hdphoto2.wdp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4.xml"/><Relationship Id="rId4" Type="http://schemas.openxmlformats.org/officeDocument/2006/relationships/audio" Target="../media/audio2.wav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5.wav"/><Relationship Id="rId2" Type="http://schemas.openxmlformats.org/officeDocument/2006/relationships/audio" Target="../media/audio5.wav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audio" Target="../media/audio6.wav"/><Relationship Id="rId2" Type="http://schemas.openxmlformats.org/officeDocument/2006/relationships/audio" Target="../media/audio6.wav"/><Relationship Id="rId1" Type="http://schemas.openxmlformats.org/officeDocument/2006/relationships/slideLayout" Target="../slideLayouts/slideLayout13.xml"/><Relationship Id="rId6" Type="http://schemas.microsoft.com/office/2007/relationships/hdphoto" Target="../media/hdphoto3.wdp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audio" Target="../media/audio7.wav"/><Relationship Id="rId1" Type="http://schemas.openxmlformats.org/officeDocument/2006/relationships/slideLayout" Target="../slideLayouts/slideLayout15.xml"/><Relationship Id="rId6" Type="http://schemas.openxmlformats.org/officeDocument/2006/relationships/audio" Target="../media/audio7.wav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860D9-9D47-C0BB-B2B4-4B6F2B36CF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QR CODE GENERATOR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6976F2A-7FB6-57ED-0FBD-BEBCD44B87C0}"/>
              </a:ext>
            </a:extLst>
          </p:cNvPr>
          <p:cNvSpPr txBox="1">
            <a:spLocks/>
          </p:cNvSpPr>
          <p:nvPr/>
        </p:nvSpPr>
        <p:spPr>
          <a:xfrm>
            <a:off x="1699740" y="6122080"/>
            <a:ext cx="4159522" cy="68272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16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16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dirty="0">
                <a:solidFill>
                  <a:srgbClr val="F5CDCE"/>
                </a:solidFill>
                <a:latin typeface="+mj-lt"/>
              </a:rPr>
              <a:t>Supervisor:</a:t>
            </a:r>
          </a:p>
          <a:p>
            <a:pPr algn="l"/>
            <a:r>
              <a:rPr lang="en-US" sz="1600" dirty="0">
                <a:solidFill>
                  <a:srgbClr val="F5CDCE"/>
                </a:solidFill>
              </a:rPr>
              <a:t>Mrs. Ayushi Nigam (</a:t>
            </a:r>
            <a:r>
              <a:rPr lang="en-US" sz="1600" dirty="0" err="1">
                <a:solidFill>
                  <a:srgbClr val="F5CDCE"/>
                </a:solidFill>
              </a:rPr>
              <a:t>H.O.D</a:t>
            </a:r>
            <a:r>
              <a:rPr lang="en-US" sz="1600" dirty="0">
                <a:solidFill>
                  <a:srgbClr val="F5CDCE"/>
                </a:solidFill>
              </a:rPr>
              <a:t>.  Computer Science) 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206E80-72CF-D1C7-1A82-44C25C36AEE0}"/>
              </a:ext>
            </a:extLst>
          </p:cNvPr>
          <p:cNvSpPr txBox="1">
            <a:spLocks/>
          </p:cNvSpPr>
          <p:nvPr/>
        </p:nvSpPr>
        <p:spPr>
          <a:xfrm>
            <a:off x="8273988" y="5404069"/>
            <a:ext cx="2574525" cy="128936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16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16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dirty="0">
                <a:solidFill>
                  <a:srgbClr val="F5CDCE"/>
                </a:solidFill>
                <a:latin typeface="+mj-lt"/>
              </a:rPr>
              <a:t>Presented by:</a:t>
            </a:r>
          </a:p>
          <a:p>
            <a:pPr algn="l"/>
            <a:r>
              <a:rPr lang="en-US" sz="1400" dirty="0">
                <a:solidFill>
                  <a:srgbClr val="F5CDCE"/>
                </a:solidFill>
              </a:rPr>
              <a:t>Mr. Abdurrahman Ansari</a:t>
            </a:r>
          </a:p>
          <a:p>
            <a:pPr algn="l"/>
            <a:r>
              <a:rPr lang="en-US" sz="1400" dirty="0">
                <a:solidFill>
                  <a:srgbClr val="F5CDCE"/>
                </a:solidFill>
              </a:rPr>
              <a:t>(</a:t>
            </a:r>
            <a:r>
              <a:rPr lang="en-US" sz="1400" dirty="0" err="1">
                <a:solidFill>
                  <a:srgbClr val="F5CDCE"/>
                </a:solidFill>
              </a:rPr>
              <a:t>C.S</a:t>
            </a:r>
            <a:r>
              <a:rPr lang="en-US" sz="1400" dirty="0">
                <a:solidFill>
                  <a:srgbClr val="F5CDCE"/>
                </a:solidFill>
              </a:rPr>
              <a:t>. 2</a:t>
            </a:r>
            <a:r>
              <a:rPr lang="en-US" sz="1400" baseline="30000" dirty="0">
                <a:solidFill>
                  <a:srgbClr val="F5CDCE"/>
                </a:solidFill>
              </a:rPr>
              <a:t>nd</a:t>
            </a:r>
            <a:r>
              <a:rPr lang="en-US" sz="1400" dirty="0">
                <a:solidFill>
                  <a:srgbClr val="F5CDCE"/>
                </a:solidFill>
              </a:rPr>
              <a:t> year)</a:t>
            </a:r>
          </a:p>
          <a:p>
            <a:pPr algn="l"/>
            <a:r>
              <a:rPr lang="en-US" sz="1400" dirty="0">
                <a:solidFill>
                  <a:srgbClr val="F5CDCE"/>
                </a:solidFill>
              </a:rPr>
              <a:t>Ms. </a:t>
            </a:r>
            <a:r>
              <a:rPr lang="en-US" sz="1400" dirty="0" err="1">
                <a:solidFill>
                  <a:srgbClr val="F5CDCE"/>
                </a:solidFill>
              </a:rPr>
              <a:t>Anshika</a:t>
            </a:r>
            <a:r>
              <a:rPr lang="en-US" sz="1400" dirty="0">
                <a:solidFill>
                  <a:srgbClr val="F5CDCE"/>
                </a:solidFill>
              </a:rPr>
              <a:t> (</a:t>
            </a:r>
            <a:r>
              <a:rPr lang="en-US" sz="1400" dirty="0" err="1">
                <a:solidFill>
                  <a:srgbClr val="F5CDCE"/>
                </a:solidFill>
              </a:rPr>
              <a:t>C.S</a:t>
            </a:r>
            <a:r>
              <a:rPr lang="en-US" sz="1400" dirty="0">
                <a:solidFill>
                  <a:srgbClr val="F5CDCE"/>
                </a:solidFill>
              </a:rPr>
              <a:t>. 2</a:t>
            </a:r>
            <a:r>
              <a:rPr lang="en-US" sz="1400" baseline="30000" dirty="0">
                <a:solidFill>
                  <a:srgbClr val="F5CDCE"/>
                </a:solidFill>
              </a:rPr>
              <a:t>nd</a:t>
            </a:r>
            <a:r>
              <a:rPr lang="en-US" sz="1400" dirty="0">
                <a:solidFill>
                  <a:srgbClr val="F5CDCE"/>
                </a:solidFill>
              </a:rPr>
              <a:t> year)</a:t>
            </a:r>
          </a:p>
          <a:p>
            <a:pPr algn="l"/>
            <a:r>
              <a:rPr lang="en-US" sz="1400" dirty="0">
                <a:solidFill>
                  <a:srgbClr val="F5CDCE"/>
                </a:solidFill>
              </a:rPr>
              <a:t>Mr. Sujeet Kumar(</a:t>
            </a:r>
            <a:r>
              <a:rPr lang="en-US" sz="1400" dirty="0" err="1">
                <a:solidFill>
                  <a:srgbClr val="F5CDCE"/>
                </a:solidFill>
              </a:rPr>
              <a:t>C.S</a:t>
            </a:r>
            <a:r>
              <a:rPr lang="en-US" sz="1400" dirty="0">
                <a:solidFill>
                  <a:srgbClr val="F5CDCE"/>
                </a:solidFill>
              </a:rPr>
              <a:t>. 2</a:t>
            </a:r>
            <a:r>
              <a:rPr lang="en-US" sz="1400" baseline="30000" dirty="0">
                <a:solidFill>
                  <a:srgbClr val="F5CDCE"/>
                </a:solidFill>
              </a:rPr>
              <a:t>nd</a:t>
            </a:r>
            <a:r>
              <a:rPr lang="en-US" sz="1400" dirty="0">
                <a:solidFill>
                  <a:srgbClr val="F5CDCE"/>
                </a:solidFill>
              </a:rPr>
              <a:t> year)</a:t>
            </a:r>
            <a:endParaRPr lang="en-US" sz="1400" dirty="0"/>
          </a:p>
        </p:txBody>
      </p:sp>
      <p:pic>
        <p:nvPicPr>
          <p:cNvPr id="1028" name="Picture 4" descr="VISION INSTITUTE OF TECHNOLOGY,KANPUR • Know Your College • AKTU">
            <a:extLst>
              <a:ext uri="{FF2B5EF4-FFF2-40B4-BE49-F238E27FC236}">
                <a16:creationId xmlns:a16="http://schemas.microsoft.com/office/drawing/2014/main" id="{0F4DD151-86E7-786B-444B-F6D8FE8759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3284" y="92100"/>
            <a:ext cx="785431" cy="768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F96B076C-811B-2467-1E73-AD9D2065FF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3351" y="3720913"/>
            <a:ext cx="1225296" cy="1225296"/>
          </a:xfrm>
          <a:prstGeom prst="roundRect">
            <a:avLst/>
          </a:prstGeom>
          <a:ln w="28575">
            <a:solidFill>
              <a:schemeClr val="accent6"/>
            </a:solidFill>
          </a:ln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FA1614C3-B3AA-01ED-4B21-49EA0212C121}"/>
              </a:ext>
            </a:extLst>
          </p:cNvPr>
          <p:cNvGrpSpPr/>
          <p:nvPr/>
        </p:nvGrpSpPr>
        <p:grpSpPr>
          <a:xfrm>
            <a:off x="10945368" y="431800"/>
            <a:ext cx="987552" cy="325120"/>
            <a:chOff x="10945368" y="431800"/>
            <a:chExt cx="987552" cy="325120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69CCABC-B106-4B81-5F2B-35CB53AD0285}"/>
                </a:ext>
              </a:extLst>
            </p:cNvPr>
            <p:cNvSpPr/>
            <p:nvPr/>
          </p:nvSpPr>
          <p:spPr>
            <a:xfrm>
              <a:off x="11276584" y="431800"/>
              <a:ext cx="325120" cy="325120"/>
            </a:xfrm>
            <a:prstGeom prst="ellipse">
              <a:avLst/>
            </a:prstGeom>
            <a:solidFill>
              <a:srgbClr val="1F2C8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7" name="Slide Number Placeholder 22">
              <a:extLst>
                <a:ext uri="{FF2B5EF4-FFF2-40B4-BE49-F238E27FC236}">
                  <a16:creationId xmlns:a16="http://schemas.microsoft.com/office/drawing/2014/main" id="{ACE03B69-D91F-1089-B7EB-247B4077E042}"/>
                </a:ext>
              </a:extLst>
            </p:cNvPr>
            <p:cNvSpPr txBox="1">
              <a:spLocks/>
            </p:cNvSpPr>
            <p:nvPr/>
          </p:nvSpPr>
          <p:spPr>
            <a:xfrm>
              <a:off x="10945368" y="457200"/>
              <a:ext cx="987552" cy="27432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defPPr>
                <a:defRPr lang="en-US"/>
              </a:defPPr>
              <a:lvl1pPr algn="ctr">
                <a:defRPr sz="1200">
                  <a:solidFill>
                    <a:schemeClr val="accent6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48F63A3B-78C7-47BE-AE5E-E10140E04643}" type="slidenum">
                <a:rPr lang="en-US" smtClean="0">
                  <a:solidFill>
                    <a:schemeClr val="accent1"/>
                  </a:solidFill>
                </a:rPr>
                <a:pPr/>
                <a:t>1</a:t>
              </a:fld>
              <a:endParaRPr lang="en-US" dirty="0">
                <a:solidFill>
                  <a:schemeClr val="accent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1568492"/>
      </p:ext>
    </p:extLst>
  </p:cSld>
  <p:clrMapOvr>
    <a:masterClrMapping/>
  </p:clrMapOvr>
  <p:transition spd="slow">
    <p:wipe/>
    <p:sndAc>
      <p:stSnd>
        <p:snd r:embed="rId2" name="wind.wav"/>
      </p:stSnd>
    </p:sndAc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565E9-D88A-55D3-9D42-BD1C24B6D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9616" y="550357"/>
            <a:ext cx="3888849" cy="634790"/>
          </a:xfrm>
        </p:spPr>
        <p:txBody>
          <a:bodyPr/>
          <a:lstStyle/>
          <a:p>
            <a:r>
              <a:rPr lang="en-US" sz="4400" b="1" dirty="0">
                <a:solidFill>
                  <a:schemeClr val="accent6"/>
                </a:solidFill>
                <a:latin typeface="Arial Black" panose="020B0604020202020204" pitchFamily="34" charset="0"/>
                <a:ea typeface="Arial Regular" pitchFamily="34" charset="-122"/>
                <a:cs typeface="Arial Black" panose="020B0604020202020204" pitchFamily="34" charset="0"/>
              </a:rPr>
              <a:t>contents</a:t>
            </a:r>
            <a:endParaRPr lang="en-US" sz="4400" b="1" dirty="0">
              <a:solidFill>
                <a:schemeClr val="accent6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F66E5-D2D7-172B-46BA-FEBFE092CC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616" y="1377893"/>
            <a:ext cx="5693664" cy="5063899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Introduction​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History of QR code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How QR Works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Components used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Brief details of libraries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Working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Use Cases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Future scopes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Running the Program</a:t>
            </a:r>
          </a:p>
        </p:txBody>
      </p:sp>
      <p:sp>
        <p:nvSpPr>
          <p:cNvPr id="7" name="Slide Number Placeholder 22">
            <a:extLst>
              <a:ext uri="{FF2B5EF4-FFF2-40B4-BE49-F238E27FC236}">
                <a16:creationId xmlns:a16="http://schemas.microsoft.com/office/drawing/2014/main" id="{07F1B532-DF2E-6077-1827-9D63802F71A1}"/>
              </a:ext>
            </a:extLst>
          </p:cNvPr>
          <p:cNvSpPr txBox="1">
            <a:spLocks/>
          </p:cNvSpPr>
          <p:nvPr/>
        </p:nvSpPr>
        <p:spPr>
          <a:xfrm>
            <a:off x="10945368" y="457200"/>
            <a:ext cx="987552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algn="ctr">
              <a:defRPr sz="120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61AA481-E5C0-CCCC-1DC3-9F57F454B27B}"/>
              </a:ext>
            </a:extLst>
          </p:cNvPr>
          <p:cNvGrpSpPr/>
          <p:nvPr/>
        </p:nvGrpSpPr>
        <p:grpSpPr>
          <a:xfrm>
            <a:off x="10945368" y="431800"/>
            <a:ext cx="987552" cy="325120"/>
            <a:chOff x="10945368" y="431800"/>
            <a:chExt cx="987552" cy="32512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287773C-4FD0-FD17-317B-4120CD8E58C2}"/>
                </a:ext>
              </a:extLst>
            </p:cNvPr>
            <p:cNvSpPr/>
            <p:nvPr/>
          </p:nvSpPr>
          <p:spPr>
            <a:xfrm>
              <a:off x="11276584" y="431800"/>
              <a:ext cx="325120" cy="325120"/>
            </a:xfrm>
            <a:prstGeom prst="ellipse">
              <a:avLst/>
            </a:prstGeom>
            <a:solidFill>
              <a:srgbClr val="1F2C8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Slide Number Placeholder 22">
              <a:extLst>
                <a:ext uri="{FF2B5EF4-FFF2-40B4-BE49-F238E27FC236}">
                  <a16:creationId xmlns:a16="http://schemas.microsoft.com/office/drawing/2014/main" id="{E26DBEB5-E249-D218-C795-AE0A9E285B7D}"/>
                </a:ext>
              </a:extLst>
            </p:cNvPr>
            <p:cNvSpPr txBox="1">
              <a:spLocks/>
            </p:cNvSpPr>
            <p:nvPr/>
          </p:nvSpPr>
          <p:spPr>
            <a:xfrm>
              <a:off x="10945368" y="457200"/>
              <a:ext cx="987552" cy="27432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defPPr>
                <a:defRPr lang="en-US"/>
              </a:defPPr>
              <a:lvl1pPr algn="ctr">
                <a:defRPr sz="1200">
                  <a:solidFill>
                    <a:schemeClr val="accent6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48F63A3B-78C7-47BE-AE5E-E10140E04643}" type="slidenum">
                <a:rPr lang="en-US" smtClean="0">
                  <a:solidFill>
                    <a:schemeClr val="accent1"/>
                  </a:solidFill>
                </a:rPr>
                <a:pPr/>
                <a:t>2</a:t>
              </a:fld>
              <a:endParaRPr 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18" name="Footer Placeholder 13">
            <a:extLst>
              <a:ext uri="{FF2B5EF4-FFF2-40B4-BE49-F238E27FC236}">
                <a16:creationId xmlns:a16="http://schemas.microsoft.com/office/drawing/2014/main" id="{0F7D5BD9-D3DF-830A-32C1-41C47D59462D}"/>
              </a:ext>
            </a:extLst>
          </p:cNvPr>
          <p:cNvSpPr txBox="1">
            <a:spLocks/>
          </p:cNvSpPr>
          <p:nvPr/>
        </p:nvSpPr>
        <p:spPr>
          <a:xfrm>
            <a:off x="8776210" y="6519883"/>
            <a:ext cx="2823888" cy="1873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>
              <a:defRPr sz="1200" b="1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050" dirty="0"/>
              <a:t>QR CODE GENERATOR USING PYTHON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855531800"/>
      </p:ext>
    </p:extLst>
  </p:cSld>
  <p:clrMapOvr>
    <a:masterClrMapping/>
  </p:clrMapOvr>
  <p:transition spd="med">
    <p:pull/>
    <p:sndAc>
      <p:stSnd>
        <p:snd r:embed="rId2" name="breeze.wav"/>
      </p:stSnd>
    </p:sndAc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40BC6-9DA0-FB4D-8879-DC8B3958C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4528" y="1200412"/>
            <a:ext cx="6766560" cy="768096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B8C4B-3A3C-9FD1-59FB-1666C1F093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4528" y="2602712"/>
            <a:ext cx="7527415" cy="2900256"/>
          </a:xfrm>
        </p:spPr>
        <p:txBody>
          <a:bodyPr/>
          <a:lstStyle/>
          <a:p>
            <a:pPr algn="ctr"/>
            <a:r>
              <a:rPr lang="en-IN" sz="1800" b="1" i="0" dirty="0">
                <a:solidFill>
                  <a:srgbClr val="1F2C8F"/>
                </a:solidFill>
                <a:effectLst/>
                <a:cs typeface="Arial" panose="020B0604020202020204" pitchFamily="34" charset="0"/>
              </a:rPr>
              <a:t>QR </a:t>
            </a:r>
            <a:r>
              <a:rPr lang="en-IN" sz="1800" dirty="0">
                <a:solidFill>
                  <a:schemeClr val="tx1"/>
                </a:solidFill>
                <a:cs typeface="Arial" panose="020B0604020202020204" pitchFamily="34" charset="0"/>
              </a:rPr>
              <a:t>(</a:t>
            </a:r>
            <a:r>
              <a:rPr lang="en-IN" sz="1800" b="1" dirty="0">
                <a:solidFill>
                  <a:schemeClr val="tx1"/>
                </a:solidFill>
                <a:cs typeface="Arial" panose="020B0604020202020204" pitchFamily="34" charset="0"/>
              </a:rPr>
              <a:t>Q</a:t>
            </a:r>
            <a:r>
              <a:rPr lang="en-IN" sz="1800" i="0" dirty="0">
                <a:solidFill>
                  <a:schemeClr val="tx1"/>
                </a:solidFill>
                <a:effectLst/>
                <a:cs typeface="Arial" panose="020B0604020202020204" pitchFamily="34" charset="0"/>
              </a:rPr>
              <a:t>uick </a:t>
            </a:r>
            <a:r>
              <a:rPr lang="en-IN" sz="1800" b="1" i="0" dirty="0">
                <a:solidFill>
                  <a:schemeClr val="tx1"/>
                </a:solidFill>
                <a:effectLst/>
                <a:cs typeface="Arial" panose="020B0604020202020204" pitchFamily="34" charset="0"/>
              </a:rPr>
              <a:t>R</a:t>
            </a:r>
            <a:r>
              <a:rPr lang="en-IN" sz="1800" i="0" dirty="0">
                <a:solidFill>
                  <a:schemeClr val="tx1"/>
                </a:solidFill>
                <a:effectLst/>
                <a:cs typeface="Arial" panose="020B0604020202020204" pitchFamily="34" charset="0"/>
              </a:rPr>
              <a:t>esponse) code </a:t>
            </a:r>
            <a:r>
              <a:rPr lang="en-IN" sz="1800" b="0" i="0" dirty="0">
                <a:solidFill>
                  <a:schemeClr val="tx1"/>
                </a:solidFill>
                <a:effectLst/>
                <a:cs typeface="Arial" panose="020B0604020202020204" pitchFamily="34" charset="0"/>
              </a:rPr>
              <a:t>system was invented in </a:t>
            </a:r>
            <a:r>
              <a:rPr lang="en-IN" sz="1800" b="1" i="0" dirty="0">
                <a:solidFill>
                  <a:schemeClr val="tx1"/>
                </a:solidFill>
                <a:effectLst/>
                <a:cs typeface="Arial" panose="020B0604020202020204" pitchFamily="34" charset="0"/>
              </a:rPr>
              <a:t>1994</a:t>
            </a:r>
            <a:r>
              <a:rPr lang="en-IN" sz="1800" b="0" i="0" dirty="0">
                <a:solidFill>
                  <a:schemeClr val="tx1"/>
                </a:solidFill>
                <a:effectLst/>
                <a:cs typeface="Arial" panose="020B0604020202020204" pitchFamily="34" charset="0"/>
              </a:rPr>
              <a:t> by </a:t>
            </a:r>
            <a:r>
              <a:rPr lang="en-IN" sz="1800" b="1" dirty="0">
                <a:solidFill>
                  <a:schemeClr val="tx1"/>
                </a:solidFill>
                <a:cs typeface="Arial" panose="020B0604020202020204" pitchFamily="34" charset="0"/>
              </a:rPr>
              <a:t>Masahiro Hara.</a:t>
            </a:r>
          </a:p>
          <a:p>
            <a:pPr algn="ctr"/>
            <a:r>
              <a:rPr lang="en-IN" sz="1800" u="none" strike="noStrike" dirty="0">
                <a:solidFill>
                  <a:schemeClr val="tx1"/>
                </a:solidFill>
                <a:cs typeface="Arial" panose="020B0604020202020204" pitchFamily="34" charset="0"/>
              </a:rPr>
              <a:t>Initially i</a:t>
            </a:r>
            <a:r>
              <a:rPr lang="en-IN" sz="1800" b="0" i="0" dirty="0">
                <a:solidFill>
                  <a:schemeClr val="tx1"/>
                </a:solidFill>
                <a:effectLst/>
                <a:cs typeface="Arial" panose="020B0604020202020204" pitchFamily="34" charset="0"/>
              </a:rPr>
              <a:t>ts purpose was to replace old </a:t>
            </a:r>
            <a:r>
              <a:rPr lang="en-IN" sz="1800" b="1" i="0" dirty="0">
                <a:solidFill>
                  <a:schemeClr val="tx1"/>
                </a:solidFill>
                <a:effectLst/>
                <a:cs typeface="Arial" panose="020B0604020202020204" pitchFamily="34" charset="0"/>
              </a:rPr>
              <a:t>bar codes. </a:t>
            </a:r>
            <a:r>
              <a:rPr lang="en-IN" sz="1800" b="0" i="0" dirty="0">
                <a:solidFill>
                  <a:schemeClr val="tx1"/>
                </a:solidFill>
                <a:effectLst/>
                <a:cs typeface="Arial" panose="020B0604020202020204" pitchFamily="34" charset="0"/>
              </a:rPr>
              <a:t>Like other </a:t>
            </a:r>
            <a:r>
              <a:rPr lang="en-IN" sz="1800" dirty="0">
                <a:solidFill>
                  <a:schemeClr val="tx1"/>
                </a:solidFill>
                <a:cs typeface="Arial" panose="020B0604020202020204" pitchFamily="34" charset="0"/>
              </a:rPr>
              <a:t>2-D barcodes</a:t>
            </a:r>
            <a:r>
              <a:rPr lang="en-IN" sz="1800" b="0" i="0" dirty="0">
                <a:solidFill>
                  <a:schemeClr val="tx1"/>
                </a:solidFill>
                <a:effectLst/>
                <a:cs typeface="Arial" panose="020B0604020202020204" pitchFamily="34" charset="0"/>
              </a:rPr>
              <a:t>, the</a:t>
            </a:r>
            <a:r>
              <a:rPr lang="en-IN" sz="1800" b="1" i="0" dirty="0">
                <a:solidFill>
                  <a:schemeClr val="tx1"/>
                </a:solidFill>
                <a:effectLst/>
                <a:cs typeface="Arial" panose="020B0604020202020204" pitchFamily="34" charset="0"/>
              </a:rPr>
              <a:t> QR code has good fault tolerance</a:t>
            </a:r>
            <a:r>
              <a:rPr lang="en-IN" sz="1800" b="0" i="0" dirty="0">
                <a:solidFill>
                  <a:schemeClr val="tx1"/>
                </a:solidFill>
                <a:effectLst/>
                <a:cs typeface="Arial" panose="020B0604020202020204" pitchFamily="34" charset="0"/>
              </a:rPr>
              <a:t>. Even if some part of the code is damaged, information can still be </a:t>
            </a:r>
            <a:r>
              <a:rPr lang="en-IN" sz="1800" b="1" i="0" dirty="0">
                <a:solidFill>
                  <a:schemeClr val="tx1"/>
                </a:solidFill>
                <a:effectLst/>
                <a:cs typeface="Arial" panose="020B0604020202020204" pitchFamily="34" charset="0"/>
              </a:rPr>
              <a:t>decoded </a:t>
            </a:r>
            <a:r>
              <a:rPr lang="en-IN" sz="1800" b="0" i="0" dirty="0">
                <a:solidFill>
                  <a:schemeClr val="tx1"/>
                </a:solidFill>
                <a:effectLst/>
                <a:cs typeface="Arial" panose="020B0604020202020204" pitchFamily="34" charset="0"/>
              </a:rPr>
              <a:t>from the code.</a:t>
            </a:r>
            <a:br>
              <a:rPr lang="en-IN" sz="1800" dirty="0">
                <a:solidFill>
                  <a:schemeClr val="tx1"/>
                </a:solidFill>
                <a:cs typeface="Arial" panose="020B0604020202020204" pitchFamily="34" charset="0"/>
              </a:rPr>
            </a:br>
            <a:r>
              <a:rPr lang="en-IN" sz="1800" dirty="0">
                <a:solidFill>
                  <a:schemeClr val="tx1"/>
                </a:solidFill>
                <a:cs typeface="Arial" panose="020B0604020202020204" pitchFamily="34" charset="0"/>
              </a:rPr>
              <a:t>QR code can store </a:t>
            </a:r>
            <a:r>
              <a:rPr lang="en-IN" sz="1800" i="0" dirty="0">
                <a:solidFill>
                  <a:schemeClr val="tx1"/>
                </a:solidFill>
                <a:effectLst/>
                <a:cs typeface="Arial" panose="020B0604020202020204" pitchFamily="34" charset="0"/>
              </a:rPr>
              <a:t>a large amount of information</a:t>
            </a:r>
            <a:r>
              <a:rPr lang="en-IN" sz="1800" b="0" i="0" dirty="0">
                <a:solidFill>
                  <a:schemeClr val="tx1"/>
                </a:solidFill>
                <a:effectLst/>
                <a:cs typeface="Arial" panose="020B0604020202020204" pitchFamily="34" charset="0"/>
              </a:rPr>
              <a:t>, unlike </a:t>
            </a:r>
            <a:r>
              <a:rPr lang="en-IN" sz="1800" b="1" i="0" dirty="0">
                <a:solidFill>
                  <a:schemeClr val="tx1"/>
                </a:solidFill>
                <a:effectLst/>
                <a:cs typeface="Arial" panose="020B0604020202020204" pitchFamily="34" charset="0"/>
              </a:rPr>
              <a:t>1-D barcodes</a:t>
            </a:r>
            <a:endParaRPr lang="en-IN" sz="1800" b="1" i="0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2400" dirty="0">
              <a:solidFill>
                <a:srgbClr val="1F2C8F"/>
              </a:solidFill>
              <a:latin typeface="+mj-lt"/>
            </a:endParaRPr>
          </a:p>
          <a:p>
            <a:pPr algn="ctr"/>
            <a:r>
              <a:rPr lang="en-IN" sz="2800" dirty="0">
                <a:solidFill>
                  <a:srgbClr val="1F2C8F"/>
                </a:solidFill>
                <a:latin typeface="+mj-lt"/>
              </a:rPr>
              <a:t>Our Project</a:t>
            </a:r>
          </a:p>
          <a:p>
            <a:pPr algn="ctr"/>
            <a:r>
              <a:rPr lang="en-IN" sz="1800" i="0" dirty="0">
                <a:solidFill>
                  <a:schemeClr val="tx1"/>
                </a:solidFill>
                <a:effectLst/>
                <a:cs typeface="Arial" panose="020B0604020202020204" pitchFamily="34" charset="0"/>
              </a:rPr>
              <a:t>W</a:t>
            </a:r>
            <a:r>
              <a:rPr lang="en-IN" sz="1800" dirty="0">
                <a:solidFill>
                  <a:schemeClr val="tx1"/>
                </a:solidFill>
                <a:cs typeface="Arial" panose="020B0604020202020204" pitchFamily="34" charset="0"/>
              </a:rPr>
              <a:t>e have made the QR Code Generator by using the Python Language and it’s libraries and modules for Back-end and Front-end programming.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FC3FD3F-45EE-74E3-AD64-441303B83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3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EB410C6-7E15-E962-55C9-0AB6947365E9}"/>
              </a:ext>
            </a:extLst>
          </p:cNvPr>
          <p:cNvGrpSpPr/>
          <p:nvPr/>
        </p:nvGrpSpPr>
        <p:grpSpPr>
          <a:xfrm>
            <a:off x="10945368" y="431800"/>
            <a:ext cx="987552" cy="325120"/>
            <a:chOff x="10945368" y="431800"/>
            <a:chExt cx="987552" cy="32512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A83E756-1E26-30E2-A5FE-FBD023EFC484}"/>
                </a:ext>
              </a:extLst>
            </p:cNvPr>
            <p:cNvSpPr/>
            <p:nvPr/>
          </p:nvSpPr>
          <p:spPr>
            <a:xfrm>
              <a:off x="11276584" y="431800"/>
              <a:ext cx="325120" cy="325120"/>
            </a:xfrm>
            <a:prstGeom prst="ellipse">
              <a:avLst/>
            </a:prstGeom>
            <a:solidFill>
              <a:srgbClr val="1F2C8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Slide Number Placeholder 22">
              <a:extLst>
                <a:ext uri="{FF2B5EF4-FFF2-40B4-BE49-F238E27FC236}">
                  <a16:creationId xmlns:a16="http://schemas.microsoft.com/office/drawing/2014/main" id="{1A060C5A-4487-3B85-11B6-EDC6FA45EEA7}"/>
                </a:ext>
              </a:extLst>
            </p:cNvPr>
            <p:cNvSpPr txBox="1">
              <a:spLocks/>
            </p:cNvSpPr>
            <p:nvPr/>
          </p:nvSpPr>
          <p:spPr>
            <a:xfrm>
              <a:off x="10945368" y="457200"/>
              <a:ext cx="987552" cy="27432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defPPr>
                <a:defRPr lang="en-US"/>
              </a:defPPr>
              <a:lvl1pPr algn="ctr">
                <a:defRPr sz="1200">
                  <a:solidFill>
                    <a:schemeClr val="accent6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48F63A3B-78C7-47BE-AE5E-E10140E04643}" type="slidenum">
                <a:rPr lang="en-US" smtClean="0">
                  <a:solidFill>
                    <a:schemeClr val="accent1"/>
                  </a:solidFill>
                </a:rPr>
                <a:pPr/>
                <a:t>3</a:t>
              </a:fld>
              <a:endParaRPr 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17" name="Footer Placeholder 13">
            <a:extLst>
              <a:ext uri="{FF2B5EF4-FFF2-40B4-BE49-F238E27FC236}">
                <a16:creationId xmlns:a16="http://schemas.microsoft.com/office/drawing/2014/main" id="{94F4E60A-2E4E-9700-EB3B-540A21CD2CCF}"/>
              </a:ext>
            </a:extLst>
          </p:cNvPr>
          <p:cNvSpPr txBox="1">
            <a:spLocks/>
          </p:cNvSpPr>
          <p:nvPr/>
        </p:nvSpPr>
        <p:spPr>
          <a:xfrm>
            <a:off x="8776210" y="6519883"/>
            <a:ext cx="2823888" cy="1873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>
              <a:defRPr sz="1200" b="1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050" dirty="0"/>
              <a:t>QR CODE GENERATOR USING PYTHON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97962200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  <p:sndAc>
          <p:stSnd>
            <p:snd r:embed="rId2" name="breeze.wav"/>
          </p:stSnd>
        </p:sndAc>
      </p:transition>
    </mc:Choice>
    <mc:Fallback xmlns="">
      <p:transition spd="slow">
        <p:fade/>
        <p:sndAc>
          <p:stSnd>
            <p:snd r:embed="rId3" name="breeze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4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E06CDA3-C985-1803-7C33-DA77FCB810FC}"/>
              </a:ext>
            </a:extLst>
          </p:cNvPr>
          <p:cNvSpPr txBox="1">
            <a:spLocks/>
          </p:cNvSpPr>
          <p:nvPr/>
        </p:nvSpPr>
        <p:spPr>
          <a:xfrm>
            <a:off x="5424408" y="934916"/>
            <a:ext cx="5679440" cy="5212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300" b="1" kern="1200" cap="all" baseline="0">
                <a:solidFill>
                  <a:schemeClr val="accent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IN" altLang="zh-CN" sz="3600" dirty="0">
                <a:latin typeface="Arial Black" panose="020B0604020202020204" pitchFamily="34" charset="0"/>
                <a:cs typeface="Arial Black" panose="020B0604020202020204" pitchFamily="34" charset="0"/>
              </a:rPr>
              <a:t>HISTORY OF QR CODE</a:t>
            </a:r>
            <a:endParaRPr lang="en-US" sz="3600" dirty="0"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7D87D16-5DB8-6DF1-85A1-0C805BE3A6A2}"/>
              </a:ext>
            </a:extLst>
          </p:cNvPr>
          <p:cNvGrpSpPr/>
          <p:nvPr/>
        </p:nvGrpSpPr>
        <p:grpSpPr>
          <a:xfrm>
            <a:off x="10945368" y="431800"/>
            <a:ext cx="987552" cy="325120"/>
            <a:chOff x="10945368" y="431800"/>
            <a:chExt cx="987552" cy="32512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83305DF-1CBF-E3C8-82D9-C361E63F6593}"/>
                </a:ext>
              </a:extLst>
            </p:cNvPr>
            <p:cNvSpPr/>
            <p:nvPr/>
          </p:nvSpPr>
          <p:spPr>
            <a:xfrm>
              <a:off x="11276584" y="431800"/>
              <a:ext cx="325120" cy="325120"/>
            </a:xfrm>
            <a:prstGeom prst="ellipse">
              <a:avLst/>
            </a:prstGeom>
            <a:solidFill>
              <a:srgbClr val="1F2C8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Slide Number Placeholder 22">
              <a:extLst>
                <a:ext uri="{FF2B5EF4-FFF2-40B4-BE49-F238E27FC236}">
                  <a16:creationId xmlns:a16="http://schemas.microsoft.com/office/drawing/2014/main" id="{D22B2846-3EFD-A527-B21E-CDE7AAFC0F6D}"/>
                </a:ext>
              </a:extLst>
            </p:cNvPr>
            <p:cNvSpPr txBox="1">
              <a:spLocks/>
            </p:cNvSpPr>
            <p:nvPr/>
          </p:nvSpPr>
          <p:spPr>
            <a:xfrm>
              <a:off x="10945368" y="457200"/>
              <a:ext cx="987552" cy="27432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defPPr>
                <a:defRPr lang="en-US"/>
              </a:defPPr>
              <a:lvl1pPr algn="ctr">
                <a:defRPr sz="1200">
                  <a:solidFill>
                    <a:schemeClr val="accent6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48F63A3B-78C7-47BE-AE5E-E10140E04643}" type="slidenum">
                <a:rPr lang="en-US" smtClean="0">
                  <a:solidFill>
                    <a:schemeClr val="accent1"/>
                  </a:solidFill>
                </a:rPr>
                <a:pPr/>
                <a:t>4</a:t>
              </a:fld>
              <a:endParaRPr 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18" name="Footer Placeholder 13">
            <a:extLst>
              <a:ext uri="{FF2B5EF4-FFF2-40B4-BE49-F238E27FC236}">
                <a16:creationId xmlns:a16="http://schemas.microsoft.com/office/drawing/2014/main" id="{DF804F24-1AE0-CC08-6A41-6583A2A822FA}"/>
              </a:ext>
            </a:extLst>
          </p:cNvPr>
          <p:cNvSpPr txBox="1">
            <a:spLocks/>
          </p:cNvSpPr>
          <p:nvPr/>
        </p:nvSpPr>
        <p:spPr>
          <a:xfrm>
            <a:off x="8776210" y="6519883"/>
            <a:ext cx="2823888" cy="1873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>
              <a:defRPr sz="1200" b="1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050" dirty="0"/>
              <a:t>QR CODE GENERATOR USING PYTHON</a:t>
            </a:r>
            <a:endParaRPr lang="en-US" sz="1050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169BE59-2437-23FF-A7BB-EC857CBE64D4}"/>
              </a:ext>
            </a:extLst>
          </p:cNvPr>
          <p:cNvGrpSpPr/>
          <p:nvPr/>
        </p:nvGrpSpPr>
        <p:grpSpPr>
          <a:xfrm>
            <a:off x="5128617" y="1907606"/>
            <a:ext cx="1320977" cy="1659531"/>
            <a:chOff x="5186680" y="2166259"/>
            <a:chExt cx="1320977" cy="1659531"/>
          </a:xfrm>
        </p:grpSpPr>
        <p:pic>
          <p:nvPicPr>
            <p:cNvPr id="13315" name="Picture 3" descr="Version 1 (21×21). Content: &quot;Ver1&quot;">
              <a:hlinkClick r:id="rId3" tooltip="Version 1 (21×21). Content: &quot;Ver1&quot;"/>
              <a:extLst>
                <a:ext uri="{FF2B5EF4-FFF2-40B4-BE49-F238E27FC236}">
                  <a16:creationId xmlns:a16="http://schemas.microsoft.com/office/drawing/2014/main" id="{E08B5513-D4A4-CEB0-5E68-B929B26C61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V="1">
              <a:off x="5186680" y="2166259"/>
              <a:ext cx="1320977" cy="13209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BF6D7F2-57E7-149C-8041-75BD74249E39}"/>
                </a:ext>
              </a:extLst>
            </p:cNvPr>
            <p:cNvSpPr txBox="1"/>
            <p:nvPr/>
          </p:nvSpPr>
          <p:spPr>
            <a:xfrm>
              <a:off x="5331014" y="3487236"/>
              <a:ext cx="103231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800" b="1" i="0" dirty="0">
                  <a:solidFill>
                    <a:srgbClr val="202122"/>
                  </a:solidFill>
                  <a:effectLst/>
                  <a:latin typeface="Arial" panose="020B0604020202020204" pitchFamily="34" charset="0"/>
                </a:rPr>
                <a:t>Version 1 (21×21)</a:t>
              </a:r>
            </a:p>
            <a:p>
              <a:pPr algn="ctr"/>
              <a:r>
                <a:rPr lang="fr-FR" sz="800" b="1" dirty="0">
                  <a:solidFill>
                    <a:srgbClr val="202122"/>
                  </a:solidFill>
                  <a:latin typeface="Arial" panose="020B0604020202020204" pitchFamily="34" charset="0"/>
                </a:rPr>
                <a:t>pixel</a:t>
              </a:r>
              <a:endParaRPr lang="en-IN" sz="800" b="1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B7D3DC9-C5BE-6E4C-0779-BECEC1B9A1C3}"/>
              </a:ext>
            </a:extLst>
          </p:cNvPr>
          <p:cNvGrpSpPr/>
          <p:nvPr/>
        </p:nvGrpSpPr>
        <p:grpSpPr>
          <a:xfrm>
            <a:off x="6525290" y="1743113"/>
            <a:ext cx="1527716" cy="1792371"/>
            <a:chOff x="6507657" y="2029765"/>
            <a:chExt cx="1527716" cy="1792371"/>
          </a:xfrm>
        </p:grpSpPr>
        <p:pic>
          <p:nvPicPr>
            <p:cNvPr id="13316" name="Picture 4" descr="Version 2 (25×25). Content: &quot;Version 2&quot;">
              <a:hlinkClick r:id="rId5" tooltip="Version 2 (25×25). Content: &quot;Version 2&quot;"/>
              <a:extLst>
                <a:ext uri="{FF2B5EF4-FFF2-40B4-BE49-F238E27FC236}">
                  <a16:creationId xmlns:a16="http://schemas.microsoft.com/office/drawing/2014/main" id="{29B7A638-D903-C9F8-54E8-331B0BF069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V="1">
              <a:off x="6507657" y="2029765"/>
              <a:ext cx="1527716" cy="15277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EED120E-A0FE-B8D1-F0DE-36D74E499EFF}"/>
                </a:ext>
              </a:extLst>
            </p:cNvPr>
            <p:cNvSpPr txBox="1"/>
            <p:nvPr/>
          </p:nvSpPr>
          <p:spPr>
            <a:xfrm>
              <a:off x="6820966" y="3483582"/>
              <a:ext cx="103231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800" b="1" i="0" dirty="0">
                  <a:solidFill>
                    <a:srgbClr val="202122"/>
                  </a:solidFill>
                  <a:effectLst/>
                  <a:latin typeface="Arial" panose="020B0604020202020204" pitchFamily="34" charset="0"/>
                </a:rPr>
                <a:t>Version 2 (25×25)</a:t>
              </a:r>
            </a:p>
            <a:p>
              <a:pPr algn="ctr"/>
              <a:r>
                <a:rPr lang="fr-FR" sz="800" b="1" dirty="0">
                  <a:solidFill>
                    <a:srgbClr val="202122"/>
                  </a:solidFill>
                  <a:latin typeface="Arial" panose="020B0604020202020204" pitchFamily="34" charset="0"/>
                </a:rPr>
                <a:t>pixel</a:t>
              </a:r>
              <a:endParaRPr lang="en-IN" sz="800" b="1" dirty="0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ADFCADD-F189-5E57-CF4B-8429EF958416}"/>
              </a:ext>
            </a:extLst>
          </p:cNvPr>
          <p:cNvGrpSpPr/>
          <p:nvPr/>
        </p:nvGrpSpPr>
        <p:grpSpPr>
          <a:xfrm>
            <a:off x="8053006" y="1524056"/>
            <a:ext cx="1810322" cy="2015082"/>
            <a:chOff x="8157821" y="1810708"/>
            <a:chExt cx="1810322" cy="2015082"/>
          </a:xfrm>
        </p:grpSpPr>
        <p:pic>
          <p:nvPicPr>
            <p:cNvPr id="13317" name="Picture 5" descr="Version 3 (29×29). Content: &quot;Version 3 QR Code&quot;">
              <a:hlinkClick r:id="rId7" tooltip="Version 3 (29×29). Content: &quot;Version 3 QR Code&quot;"/>
              <a:extLst>
                <a:ext uri="{FF2B5EF4-FFF2-40B4-BE49-F238E27FC236}">
                  <a16:creationId xmlns:a16="http://schemas.microsoft.com/office/drawing/2014/main" id="{17616101-54D1-6A1C-6657-1FCD68259DE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V="1">
              <a:off x="8157821" y="1810708"/>
              <a:ext cx="1810322" cy="18103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BCE437D-41AC-6F83-97B4-8D6AE62FFDF7}"/>
                </a:ext>
              </a:extLst>
            </p:cNvPr>
            <p:cNvSpPr txBox="1"/>
            <p:nvPr/>
          </p:nvSpPr>
          <p:spPr>
            <a:xfrm>
              <a:off x="8546826" y="3487236"/>
              <a:ext cx="103231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800" b="1" i="0" dirty="0">
                  <a:solidFill>
                    <a:srgbClr val="202122"/>
                  </a:solidFill>
                  <a:effectLst/>
                  <a:latin typeface="Arial" panose="020B0604020202020204" pitchFamily="34" charset="0"/>
                </a:rPr>
                <a:t>Version 3 (29×29)</a:t>
              </a:r>
            </a:p>
            <a:p>
              <a:pPr algn="ctr"/>
              <a:r>
                <a:rPr lang="fr-FR" sz="800" b="1" dirty="0">
                  <a:solidFill>
                    <a:srgbClr val="202122"/>
                  </a:solidFill>
                  <a:latin typeface="Arial" panose="020B0604020202020204" pitchFamily="34" charset="0"/>
                </a:rPr>
                <a:t>pixel</a:t>
              </a:r>
              <a:endParaRPr lang="en-IN" sz="800" b="1" dirty="0"/>
            </a:p>
          </p:txBody>
        </p:sp>
      </p:grp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9D129950-0471-7470-4532-A1576C07E50D}"/>
              </a:ext>
            </a:extLst>
          </p:cNvPr>
          <p:cNvSpPr/>
          <p:nvPr/>
        </p:nvSpPr>
        <p:spPr>
          <a:xfrm>
            <a:off x="325128" y="2729822"/>
            <a:ext cx="1921692" cy="1884122"/>
          </a:xfrm>
          <a:prstGeom prst="roundRect">
            <a:avLst/>
          </a:prstGeom>
          <a:solidFill>
            <a:srgbClr val="F5CDC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5CDCE"/>
              </a:solidFill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6E0C980-4AA6-2FDD-8B39-68133E259D94}"/>
              </a:ext>
            </a:extLst>
          </p:cNvPr>
          <p:cNvGrpSpPr/>
          <p:nvPr/>
        </p:nvGrpSpPr>
        <p:grpSpPr>
          <a:xfrm>
            <a:off x="9863328" y="1513887"/>
            <a:ext cx="1749552" cy="1976294"/>
            <a:chOff x="9829605" y="1845842"/>
            <a:chExt cx="1749552" cy="1976294"/>
          </a:xfrm>
        </p:grpSpPr>
        <p:pic>
          <p:nvPicPr>
            <p:cNvPr id="13318" name="Picture 6" descr="Version 4 (33×33). Content: &quot;Version 4 QR Code, up to 50 char&quot;">
              <a:hlinkClick r:id="rId9" tooltip="Version 4 (33×33). Content: &quot;Version 4 QR Code, up to 50 char&quot;"/>
              <a:extLst>
                <a:ext uri="{FF2B5EF4-FFF2-40B4-BE49-F238E27FC236}">
                  <a16:creationId xmlns:a16="http://schemas.microsoft.com/office/drawing/2014/main" id="{037DF247-FC5C-EE5F-293D-4240335A6B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V="1">
              <a:off x="9829605" y="1845842"/>
              <a:ext cx="1749552" cy="17495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1E267FD-8311-D70F-B01F-0DD817850639}"/>
                </a:ext>
              </a:extLst>
            </p:cNvPr>
            <p:cNvSpPr txBox="1"/>
            <p:nvPr/>
          </p:nvSpPr>
          <p:spPr>
            <a:xfrm>
              <a:off x="10188225" y="3483582"/>
              <a:ext cx="103231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800" b="1" i="0" dirty="0">
                  <a:solidFill>
                    <a:srgbClr val="202122"/>
                  </a:solidFill>
                  <a:effectLst/>
                  <a:latin typeface="Arial" panose="020B0604020202020204" pitchFamily="34" charset="0"/>
                </a:rPr>
                <a:t>Version 4 (33×33)</a:t>
              </a:r>
            </a:p>
            <a:p>
              <a:pPr algn="ctr"/>
              <a:r>
                <a:rPr lang="fr-FR" sz="800" b="1" dirty="0">
                  <a:solidFill>
                    <a:srgbClr val="202122"/>
                  </a:solidFill>
                  <a:latin typeface="Arial" panose="020B0604020202020204" pitchFamily="34" charset="0"/>
                </a:rPr>
                <a:t>pixel</a:t>
              </a:r>
              <a:endParaRPr lang="en-IN" sz="800" b="1" dirty="0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626BF0CF-DFCD-CE28-5CD3-0C81C6544A82}"/>
              </a:ext>
            </a:extLst>
          </p:cNvPr>
          <p:cNvGrpSpPr/>
          <p:nvPr/>
        </p:nvGrpSpPr>
        <p:grpSpPr>
          <a:xfrm>
            <a:off x="4960214" y="3954521"/>
            <a:ext cx="1867186" cy="2215662"/>
            <a:chOff x="5280254" y="3954521"/>
            <a:chExt cx="1867186" cy="2215662"/>
          </a:xfrm>
        </p:grpSpPr>
        <p:pic>
          <p:nvPicPr>
            <p:cNvPr id="13319" name="Picture 7" descr="Version 10 (57×57). Content: &quot;VERSION 10 QR CODE, UP TO 174 CHAR AT H LEVEL, WITH 57X57 MODULES AND PLENTY OF ERROR CORRECTION TO GO AROUND. NOTE THAT THERE ARE ADDITIONAL TRACKING BOXES&quot; (actually encoded in all capital letters). (Tracking boxes are more commonly called alignment patterns.)">
              <a:hlinkClick r:id="rId11" tooltip="Version 10 (57×57). Content: &quot;VERSION 10 QR CODE, UP TO 174 CHAR AT H LEVEL, WITH 57X57 MODULES AND PLENTY OF ERROR CORRECTION TO GO AROUND. NOTE THAT THERE ARE ADDITIONAL TRACKING BOXES&quot; (actually encoded in all capital letters). (Tracking boxes are more commonly called alignment patterns.)"/>
              <a:extLst>
                <a:ext uri="{FF2B5EF4-FFF2-40B4-BE49-F238E27FC236}">
                  <a16:creationId xmlns:a16="http://schemas.microsoft.com/office/drawing/2014/main" id="{102375E5-84B2-6DED-8F45-EA0A1C1DF4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V="1">
              <a:off x="5280254" y="3954521"/>
              <a:ext cx="1867186" cy="18671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A67823A-2C19-F1E1-8151-19B21457022B}"/>
                </a:ext>
              </a:extLst>
            </p:cNvPr>
            <p:cNvSpPr txBox="1"/>
            <p:nvPr/>
          </p:nvSpPr>
          <p:spPr>
            <a:xfrm>
              <a:off x="5621996" y="5831629"/>
              <a:ext cx="114763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800" b="1" i="0" dirty="0">
                  <a:solidFill>
                    <a:srgbClr val="202122"/>
                  </a:solidFill>
                  <a:effectLst/>
                  <a:latin typeface="Arial" panose="020B0604020202020204" pitchFamily="34" charset="0"/>
                </a:rPr>
                <a:t>Version 10 (57×57)</a:t>
              </a:r>
            </a:p>
            <a:p>
              <a:pPr algn="ctr"/>
              <a:r>
                <a:rPr lang="fr-FR" sz="800" b="1" dirty="0">
                  <a:solidFill>
                    <a:srgbClr val="202122"/>
                  </a:solidFill>
                  <a:latin typeface="Arial" panose="020B0604020202020204" pitchFamily="34" charset="0"/>
                </a:rPr>
                <a:t>pixel</a:t>
              </a:r>
              <a:endParaRPr lang="en-IN" sz="800" b="1" dirty="0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5D1C4E83-148A-9730-C2F6-A3DF6D88BCA3}"/>
              </a:ext>
            </a:extLst>
          </p:cNvPr>
          <p:cNvGrpSpPr/>
          <p:nvPr/>
        </p:nvGrpSpPr>
        <p:grpSpPr>
          <a:xfrm>
            <a:off x="7345715" y="3891339"/>
            <a:ext cx="1810322" cy="2278844"/>
            <a:chOff x="7665755" y="3891339"/>
            <a:chExt cx="1810322" cy="2278844"/>
          </a:xfrm>
        </p:grpSpPr>
        <p:pic>
          <p:nvPicPr>
            <p:cNvPr id="13320" name="Picture 8" descr="Version 25 (117×117) Content: 1,269 characters of ASCII text describing QR Codes">
              <a:hlinkClick r:id="rId13" tooltip="Version 25 (117×117) Content: 1,269 characters of ASCII text describing QR Codes"/>
              <a:extLst>
                <a:ext uri="{FF2B5EF4-FFF2-40B4-BE49-F238E27FC236}">
                  <a16:creationId xmlns:a16="http://schemas.microsoft.com/office/drawing/2014/main" id="{A25DBF59-3891-2337-AD0D-3E3D9DE1E48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V="1">
              <a:off x="7665755" y="3891339"/>
              <a:ext cx="1810322" cy="18103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30EBCDF0-D81A-B08B-A95A-20FA1DFCB9A4}"/>
                </a:ext>
              </a:extLst>
            </p:cNvPr>
            <p:cNvSpPr txBox="1"/>
            <p:nvPr/>
          </p:nvSpPr>
          <p:spPr>
            <a:xfrm>
              <a:off x="7894603" y="5831629"/>
              <a:ext cx="120164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800" b="1" i="0" dirty="0">
                  <a:solidFill>
                    <a:srgbClr val="202122"/>
                  </a:solidFill>
                  <a:effectLst/>
                  <a:latin typeface="Arial" panose="020B0604020202020204" pitchFamily="34" charset="0"/>
                </a:rPr>
                <a:t>Version 25 (117×117)</a:t>
              </a:r>
            </a:p>
            <a:p>
              <a:pPr algn="ctr"/>
              <a:r>
                <a:rPr lang="fr-FR" sz="800" b="1" dirty="0">
                  <a:solidFill>
                    <a:srgbClr val="202122"/>
                  </a:solidFill>
                  <a:latin typeface="Arial" panose="020B0604020202020204" pitchFamily="34" charset="0"/>
                </a:rPr>
                <a:t>pixel</a:t>
              </a:r>
              <a:endParaRPr lang="en-IN" sz="800" b="1" dirty="0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385C32B0-F139-760F-34A7-0E3025BEAC32}"/>
              </a:ext>
            </a:extLst>
          </p:cNvPr>
          <p:cNvGrpSpPr/>
          <p:nvPr/>
        </p:nvGrpSpPr>
        <p:grpSpPr>
          <a:xfrm>
            <a:off x="9674352" y="3671883"/>
            <a:ext cx="1938528" cy="2498273"/>
            <a:chOff x="9994392" y="3671883"/>
            <a:chExt cx="1938528" cy="2498273"/>
          </a:xfrm>
        </p:grpSpPr>
        <p:pic>
          <p:nvPicPr>
            <p:cNvPr id="13321" name="Picture 9" descr="Version 40 (177×177) Content: &quot;Version 40 QR Code can contain up to 1852 chars...&quot; (and followed by four paragraphs of ASCII text describing QR Codes).">
              <a:hlinkClick r:id="rId15" tooltip="Version 40 (177×177) Content: &quot;Version 40 QR Code can contain up to 1852 chars...&quot; (and followed by four paragraphs of ASCII text describing QR Codes)."/>
              <a:extLst>
                <a:ext uri="{FF2B5EF4-FFF2-40B4-BE49-F238E27FC236}">
                  <a16:creationId xmlns:a16="http://schemas.microsoft.com/office/drawing/2014/main" id="{AFADA063-CC91-562C-840B-BB121AC1D19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95" t="8520" r="8614" b="7679"/>
            <a:stretch/>
          </p:blipFill>
          <p:spPr bwMode="auto">
            <a:xfrm flipV="1">
              <a:off x="9994392" y="3671883"/>
              <a:ext cx="1938528" cy="19669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103681F4-2048-9A6A-83E0-BA9A8E7618A2}"/>
                </a:ext>
              </a:extLst>
            </p:cNvPr>
            <p:cNvSpPr txBox="1"/>
            <p:nvPr/>
          </p:nvSpPr>
          <p:spPr>
            <a:xfrm>
              <a:off x="10457320" y="5831602"/>
              <a:ext cx="120164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800" b="1" i="0" dirty="0">
                  <a:solidFill>
                    <a:srgbClr val="202122"/>
                  </a:solidFill>
                  <a:effectLst/>
                  <a:latin typeface="Arial" panose="020B0604020202020204" pitchFamily="34" charset="0"/>
                </a:rPr>
                <a:t>Version 40 (177×177)</a:t>
              </a:r>
            </a:p>
            <a:p>
              <a:pPr algn="ctr"/>
              <a:r>
                <a:rPr lang="fr-FR" sz="800" b="1" dirty="0">
                  <a:solidFill>
                    <a:srgbClr val="202122"/>
                  </a:solidFill>
                  <a:latin typeface="Arial" panose="020B0604020202020204" pitchFamily="34" charset="0"/>
                </a:rPr>
                <a:t>pixel</a:t>
              </a:r>
              <a:endParaRPr lang="en-IN" sz="800" b="1" dirty="0"/>
            </a:p>
          </p:txBody>
        </p:sp>
      </p:grpSp>
      <p:sp>
        <p:nvSpPr>
          <p:cNvPr id="58" name="Text Placeholder 24">
            <a:extLst>
              <a:ext uri="{FF2B5EF4-FFF2-40B4-BE49-F238E27FC236}">
                <a16:creationId xmlns:a16="http://schemas.microsoft.com/office/drawing/2014/main" id="{709F1588-19CF-70AD-C46C-D462EB16DF36}"/>
              </a:ext>
            </a:extLst>
          </p:cNvPr>
          <p:cNvSpPr txBox="1">
            <a:spLocks/>
          </p:cNvSpPr>
          <p:nvPr/>
        </p:nvSpPr>
        <p:spPr>
          <a:xfrm>
            <a:off x="325128" y="2676554"/>
            <a:ext cx="1921692" cy="1884122"/>
          </a:xfrm>
          <a:prstGeom prst="roundRect">
            <a:avLst/>
          </a:prstGeom>
          <a:noFill/>
        </p:spPr>
        <p:txBody>
          <a:bodyPr/>
          <a:lstStyle>
            <a:lvl1pPr marL="347472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N" sz="1400" b="1" i="1" dirty="0">
                <a:solidFill>
                  <a:schemeClr val="accent6">
                    <a:lumMod val="75000"/>
                  </a:schemeClr>
                </a:solidFill>
                <a:effectLst/>
                <a:latin typeface="Abadi Extra Light" panose="020B0204020104020204" pitchFamily="34" charset="0"/>
              </a:rPr>
              <a:t>The QR</a:t>
            </a:r>
            <a:r>
              <a:rPr lang="en-IN" sz="1400" i="1" dirty="0">
                <a:solidFill>
                  <a:schemeClr val="accent6">
                    <a:lumMod val="75000"/>
                  </a:schemeClr>
                </a:solidFill>
                <a:effectLst/>
                <a:latin typeface="Abadi Extra Light" panose="020B0204020104020204" pitchFamily="34" charset="0"/>
              </a:rPr>
              <a:t> (</a:t>
            </a:r>
            <a:r>
              <a:rPr lang="en-IN" sz="1400" b="1" i="1" dirty="0">
                <a:solidFill>
                  <a:schemeClr val="accent6">
                    <a:lumMod val="75000"/>
                  </a:schemeClr>
                </a:solidFill>
                <a:effectLst/>
                <a:latin typeface="Abadi Extra Light" panose="020B0204020104020204" pitchFamily="34" charset="0"/>
              </a:rPr>
              <a:t>Q</a:t>
            </a:r>
            <a:r>
              <a:rPr lang="en-IN" sz="1400" i="1" dirty="0">
                <a:solidFill>
                  <a:schemeClr val="accent6">
                    <a:lumMod val="75000"/>
                  </a:schemeClr>
                </a:solidFill>
                <a:effectLst/>
                <a:latin typeface="Abadi Extra Light" panose="020B0204020104020204" pitchFamily="34" charset="0"/>
              </a:rPr>
              <a:t>uick </a:t>
            </a:r>
            <a:r>
              <a:rPr lang="en-IN" sz="1400" b="1" i="1" dirty="0">
                <a:solidFill>
                  <a:schemeClr val="accent6">
                    <a:lumMod val="75000"/>
                  </a:schemeClr>
                </a:solidFill>
                <a:effectLst/>
                <a:latin typeface="Abadi Extra Light" panose="020B0204020104020204" pitchFamily="34" charset="0"/>
              </a:rPr>
              <a:t>R</a:t>
            </a:r>
            <a:r>
              <a:rPr lang="en-IN" sz="1400" i="1" dirty="0">
                <a:solidFill>
                  <a:schemeClr val="accent6">
                    <a:lumMod val="75000"/>
                  </a:schemeClr>
                </a:solidFill>
                <a:effectLst/>
                <a:latin typeface="Abadi Extra Light" panose="020B0204020104020204" pitchFamily="34" charset="0"/>
              </a:rPr>
              <a:t>esponse) code system was invented in </a:t>
            </a:r>
            <a:r>
              <a:rPr lang="en-IN" sz="1400" b="1" i="1" dirty="0">
                <a:solidFill>
                  <a:schemeClr val="accent6">
                    <a:lumMod val="75000"/>
                  </a:schemeClr>
                </a:solidFill>
                <a:effectLst/>
                <a:latin typeface="Abadi Extra Light" panose="020B0204020104020204" pitchFamily="34" charset="0"/>
              </a:rPr>
              <a:t>1994</a:t>
            </a:r>
            <a:r>
              <a:rPr lang="en-IN" sz="1400" b="1" i="1" dirty="0">
                <a:solidFill>
                  <a:schemeClr val="accent6">
                    <a:lumMod val="75000"/>
                  </a:schemeClr>
                </a:solidFill>
                <a:latin typeface="Abadi Extra Light" panose="020B0204020104020204" pitchFamily="34" charset="0"/>
              </a:rPr>
              <a:t> </a:t>
            </a:r>
            <a:r>
              <a:rPr lang="en-IN" sz="1400" i="1" dirty="0">
                <a:solidFill>
                  <a:schemeClr val="accent6">
                    <a:lumMod val="75000"/>
                  </a:schemeClr>
                </a:solidFill>
                <a:effectLst/>
                <a:latin typeface="Abadi Extra Light" panose="020B0204020104020204" pitchFamily="34" charset="0"/>
              </a:rPr>
              <a:t>by </a:t>
            </a:r>
            <a:r>
              <a:rPr lang="en-IN" sz="1400" b="1" i="1" dirty="0">
                <a:solidFill>
                  <a:schemeClr val="accent6">
                    <a:lumMod val="75000"/>
                  </a:schemeClr>
                </a:solidFill>
                <a:latin typeface="Abadi Extra Light" panose="020B0204020104020204" pitchFamily="34" charset="0"/>
              </a:rPr>
              <a:t>Masahiro Hara </a:t>
            </a:r>
            <a:r>
              <a:rPr lang="en-IN" sz="1400" i="1" dirty="0">
                <a:solidFill>
                  <a:schemeClr val="accent6">
                    <a:lumMod val="75000"/>
                  </a:schemeClr>
                </a:solidFill>
                <a:latin typeface="Abadi Extra Light" panose="020B0204020104020204" pitchFamily="34" charset="0"/>
              </a:rPr>
              <a:t>for replacing the old </a:t>
            </a:r>
            <a:r>
              <a:rPr lang="en-IN" sz="1400" b="1" i="1" dirty="0">
                <a:solidFill>
                  <a:schemeClr val="accent6">
                    <a:lumMod val="75000"/>
                  </a:schemeClr>
                </a:solidFill>
                <a:latin typeface="Abadi Extra Light" panose="020B0204020104020204" pitchFamily="34" charset="0"/>
              </a:rPr>
              <a:t>barcode</a:t>
            </a:r>
            <a:r>
              <a:rPr lang="en-IN" sz="1400" i="1" dirty="0">
                <a:solidFill>
                  <a:schemeClr val="accent6">
                    <a:lumMod val="75000"/>
                  </a:schemeClr>
                </a:solidFill>
                <a:latin typeface="Abadi Extra Light" panose="020B0204020104020204" pitchFamily="34" charset="0"/>
              </a:rPr>
              <a:t> and provide much </a:t>
            </a:r>
            <a:r>
              <a:rPr lang="en-IN" sz="1400" b="1" i="1" dirty="0">
                <a:solidFill>
                  <a:schemeClr val="accent6">
                    <a:lumMod val="75000"/>
                  </a:schemeClr>
                </a:solidFill>
                <a:latin typeface="Abadi Extra Light" panose="020B0204020104020204" pitchFamily="34" charset="0"/>
              </a:rPr>
              <a:t>faster</a:t>
            </a:r>
            <a:r>
              <a:rPr lang="en-IN" sz="1400" i="1" dirty="0">
                <a:solidFill>
                  <a:schemeClr val="accent6">
                    <a:lumMod val="75000"/>
                  </a:schemeClr>
                </a:solidFill>
                <a:latin typeface="Abadi Extra Light" panose="020B0204020104020204" pitchFamily="34" charset="0"/>
              </a:rPr>
              <a:t> and </a:t>
            </a:r>
            <a:r>
              <a:rPr lang="en-IN" sz="1400" b="1" i="1" dirty="0">
                <a:solidFill>
                  <a:schemeClr val="accent6">
                    <a:lumMod val="75000"/>
                  </a:schemeClr>
                </a:solidFill>
                <a:latin typeface="Abadi Extra Light" panose="020B0204020104020204" pitchFamily="34" charset="0"/>
              </a:rPr>
              <a:t>efficient</a:t>
            </a:r>
            <a:r>
              <a:rPr lang="en-IN" sz="1400" i="1" dirty="0">
                <a:solidFill>
                  <a:schemeClr val="accent6">
                    <a:lumMod val="75000"/>
                  </a:schemeClr>
                </a:solidFill>
                <a:latin typeface="Abadi Extra Light" panose="020B0204020104020204" pitchFamily="34" charset="0"/>
              </a:rPr>
              <a:t> code.</a:t>
            </a:r>
            <a:endParaRPr lang="en-US" sz="1400" i="1" dirty="0">
              <a:solidFill>
                <a:schemeClr val="accent6">
                  <a:lumMod val="75000"/>
                </a:schemeClr>
              </a:solidFill>
              <a:latin typeface="Abadi Extra 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  <p:sndAc>
          <p:stSnd>
            <p:snd r:embed="rId2" name="suction.wav"/>
          </p:stSnd>
        </p:sndAc>
      </p:transition>
    </mc:Choice>
    <mc:Fallback xmlns="">
      <p:transition spd="slow">
        <p:fade/>
        <p:sndAc>
          <p:stSnd>
            <p:snd r:embed="rId17" name="suction.wav"/>
          </p:stSnd>
        </p:sndAc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D3DF2DB-EAD5-FF26-4D91-595ED357B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835" y="611671"/>
            <a:ext cx="7475442" cy="768096"/>
          </a:xfrm>
        </p:spPr>
        <p:txBody>
          <a:bodyPr/>
          <a:lstStyle/>
          <a:p>
            <a:pPr algn="ctr"/>
            <a:r>
              <a:rPr lang="en-IN" dirty="0"/>
              <a:t>How </a:t>
            </a:r>
            <a:r>
              <a:rPr lang="en-IN" dirty="0" err="1"/>
              <a:t>qr</a:t>
            </a:r>
            <a:r>
              <a:rPr lang="en-IN" dirty="0"/>
              <a:t> code works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F2E51-AC8E-6B8F-A44F-73734471D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5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EDE7CFA-4FFD-3920-EB7E-52C88391148F}"/>
              </a:ext>
            </a:extLst>
          </p:cNvPr>
          <p:cNvGrpSpPr/>
          <p:nvPr/>
        </p:nvGrpSpPr>
        <p:grpSpPr>
          <a:xfrm>
            <a:off x="5637572" y="1546287"/>
            <a:ext cx="338210" cy="410484"/>
            <a:chOff x="2796466" y="784439"/>
            <a:chExt cx="2530979" cy="2843687"/>
          </a:xfrm>
          <a:solidFill>
            <a:schemeClr val="tx1"/>
          </a:solidFill>
        </p:grpSpPr>
        <p:sp>
          <p:nvSpPr>
            <p:cNvPr id="12" name="Flowchart: Process 11">
              <a:extLst>
                <a:ext uri="{FF2B5EF4-FFF2-40B4-BE49-F238E27FC236}">
                  <a16:creationId xmlns:a16="http://schemas.microsoft.com/office/drawing/2014/main" id="{DA8FB749-34C7-B6F1-88B2-61F8455279C7}"/>
                </a:ext>
              </a:extLst>
            </p:cNvPr>
            <p:cNvSpPr/>
            <p:nvPr/>
          </p:nvSpPr>
          <p:spPr>
            <a:xfrm>
              <a:off x="2796466" y="1873188"/>
              <a:ext cx="1766656" cy="768096"/>
            </a:xfrm>
            <a:prstGeom prst="flowChartProcess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Flowchart: Process 12">
              <a:extLst>
                <a:ext uri="{FF2B5EF4-FFF2-40B4-BE49-F238E27FC236}">
                  <a16:creationId xmlns:a16="http://schemas.microsoft.com/office/drawing/2014/main" id="{8BD67022-0EE9-2A5B-D76A-E1A567EDD08A}"/>
                </a:ext>
              </a:extLst>
            </p:cNvPr>
            <p:cNvSpPr/>
            <p:nvPr/>
          </p:nvSpPr>
          <p:spPr>
            <a:xfrm>
              <a:off x="3690986" y="784439"/>
              <a:ext cx="941034" cy="1754938"/>
            </a:xfrm>
            <a:prstGeom prst="flowChartProcess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5" name="Flowchart: Process 14">
              <a:extLst>
                <a:ext uri="{FF2B5EF4-FFF2-40B4-BE49-F238E27FC236}">
                  <a16:creationId xmlns:a16="http://schemas.microsoft.com/office/drawing/2014/main" id="{06A2CA2E-B363-44A3-B36B-083C04E092E4}"/>
                </a:ext>
              </a:extLst>
            </p:cNvPr>
            <p:cNvSpPr/>
            <p:nvPr/>
          </p:nvSpPr>
          <p:spPr>
            <a:xfrm>
              <a:off x="4386412" y="1873188"/>
              <a:ext cx="941033" cy="1754938"/>
            </a:xfrm>
            <a:prstGeom prst="flowChartProcess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3F20203-4DE9-F384-0C60-332EF4BF9A3A}"/>
              </a:ext>
            </a:extLst>
          </p:cNvPr>
          <p:cNvGrpSpPr/>
          <p:nvPr/>
        </p:nvGrpSpPr>
        <p:grpSpPr>
          <a:xfrm>
            <a:off x="6123738" y="1544343"/>
            <a:ext cx="341900" cy="410984"/>
            <a:chOff x="2738760" y="886345"/>
            <a:chExt cx="2463896" cy="2741781"/>
          </a:xfrm>
          <a:solidFill>
            <a:srgbClr val="AAAEF0"/>
          </a:solidFill>
        </p:grpSpPr>
        <p:sp>
          <p:nvSpPr>
            <p:cNvPr id="17" name="Flowchart: Process 16">
              <a:extLst>
                <a:ext uri="{FF2B5EF4-FFF2-40B4-BE49-F238E27FC236}">
                  <a16:creationId xmlns:a16="http://schemas.microsoft.com/office/drawing/2014/main" id="{103083B8-7879-80A1-DD45-2D931AB86E54}"/>
                </a:ext>
              </a:extLst>
            </p:cNvPr>
            <p:cNvSpPr/>
            <p:nvPr/>
          </p:nvSpPr>
          <p:spPr>
            <a:xfrm>
              <a:off x="2796466" y="1873188"/>
              <a:ext cx="1766656" cy="768096"/>
            </a:xfrm>
            <a:prstGeom prst="flowChartProcess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Flowchart: Process 17">
              <a:extLst>
                <a:ext uri="{FF2B5EF4-FFF2-40B4-BE49-F238E27FC236}">
                  <a16:creationId xmlns:a16="http://schemas.microsoft.com/office/drawing/2014/main" id="{875FC42A-3B46-19F9-2658-8FA2A2AC95BF}"/>
                </a:ext>
              </a:extLst>
            </p:cNvPr>
            <p:cNvSpPr/>
            <p:nvPr/>
          </p:nvSpPr>
          <p:spPr>
            <a:xfrm>
              <a:off x="2738760" y="886345"/>
              <a:ext cx="941032" cy="1754938"/>
            </a:xfrm>
            <a:prstGeom prst="flowChartProcess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9" name="Flowchart: Process 18">
              <a:extLst>
                <a:ext uri="{FF2B5EF4-FFF2-40B4-BE49-F238E27FC236}">
                  <a16:creationId xmlns:a16="http://schemas.microsoft.com/office/drawing/2014/main" id="{35981322-63AF-1DBA-177F-C2DD37FFC322}"/>
                </a:ext>
              </a:extLst>
            </p:cNvPr>
            <p:cNvSpPr/>
            <p:nvPr/>
          </p:nvSpPr>
          <p:spPr>
            <a:xfrm>
              <a:off x="4261624" y="1873188"/>
              <a:ext cx="941032" cy="1754938"/>
            </a:xfrm>
            <a:prstGeom prst="flowChartProcess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268EE803-302C-C9BD-5A37-3747459DA97D}"/>
              </a:ext>
            </a:extLst>
          </p:cNvPr>
          <p:cNvSpPr txBox="1"/>
          <p:nvPr/>
        </p:nvSpPr>
        <p:spPr>
          <a:xfrm>
            <a:off x="1181219" y="1371898"/>
            <a:ext cx="3246120" cy="4316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solidFill>
                  <a:srgbClr val="1F2C8F"/>
                </a:solidFill>
              </a:rPr>
              <a:t>Data Modules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solidFill>
                  <a:srgbClr val="1F2C8F"/>
                </a:solidFill>
              </a:rPr>
              <a:t>Finder Pattern(Eyes)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solidFill>
                  <a:srgbClr val="1F2C8F"/>
                </a:solidFill>
              </a:rPr>
              <a:t>Separators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solidFill>
                  <a:srgbClr val="1F2C8F"/>
                </a:solidFill>
              </a:rPr>
              <a:t>Quite Space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solidFill>
                  <a:srgbClr val="1F2C8F"/>
                </a:solidFill>
              </a:rPr>
              <a:t>Alignment Markers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solidFill>
                  <a:srgbClr val="1F2C8F"/>
                </a:solidFill>
              </a:rPr>
              <a:t>Error Correction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solidFill>
                  <a:srgbClr val="1F2C8F"/>
                </a:solidFill>
              </a:rPr>
              <a:t>Pattern Masking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F584134-B898-0377-2694-C0F4552C109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</a:blip>
          <a:srcRect l="72669" t="6478" r="6208" b="72740"/>
          <a:stretch/>
        </p:blipFill>
        <p:spPr>
          <a:xfrm>
            <a:off x="5673584" y="2280451"/>
            <a:ext cx="348037" cy="342399"/>
          </a:xfrm>
          <a:prstGeom prst="rect">
            <a:avLst/>
          </a:prstGeom>
          <a:ln w="28575">
            <a:noFill/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6833FEB-CE61-B84F-DD2F-A0A4BEF1198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</a:blip>
          <a:srcRect l="70120" t="6477" r="6206" b="70347"/>
          <a:stretch/>
        </p:blipFill>
        <p:spPr>
          <a:xfrm>
            <a:off x="5655311" y="2883341"/>
            <a:ext cx="390066" cy="381830"/>
          </a:xfrm>
          <a:prstGeom prst="rect">
            <a:avLst/>
          </a:prstGeom>
          <a:ln w="28575">
            <a:noFill/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CD29292-DE5E-8704-7B68-CD02C196A5D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646093" y="5359276"/>
            <a:ext cx="468448" cy="468448"/>
          </a:xfrm>
          <a:prstGeom prst="roundRect">
            <a:avLst/>
          </a:prstGeom>
          <a:ln w="28575">
            <a:solidFill>
              <a:schemeClr val="tx1"/>
            </a:solidFill>
          </a:ln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E6EA83EA-EC58-B99A-3CC7-92C63EC136C7}"/>
              </a:ext>
            </a:extLst>
          </p:cNvPr>
          <p:cNvGrpSpPr/>
          <p:nvPr/>
        </p:nvGrpSpPr>
        <p:grpSpPr>
          <a:xfrm>
            <a:off x="5654514" y="3486230"/>
            <a:ext cx="403630" cy="403630"/>
            <a:chOff x="4385311" y="3592830"/>
            <a:chExt cx="1330416" cy="1330416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5CC4FDE-1A67-7B6E-8C8E-3F6595526B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accent6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4385311" y="3592830"/>
              <a:ext cx="1330416" cy="1330416"/>
            </a:xfrm>
            <a:prstGeom prst="rect">
              <a:avLst/>
            </a:prstGeom>
            <a:ln w="28575">
              <a:noFill/>
            </a:ln>
          </p:spPr>
        </p:pic>
        <p:sp>
          <p:nvSpPr>
            <p:cNvPr id="26" name="Flowchart: Process 25">
              <a:extLst>
                <a:ext uri="{FF2B5EF4-FFF2-40B4-BE49-F238E27FC236}">
                  <a16:creationId xmlns:a16="http://schemas.microsoft.com/office/drawing/2014/main" id="{CAF9F527-8065-DA4D-DB5B-5F236B1EBE48}"/>
                </a:ext>
              </a:extLst>
            </p:cNvPr>
            <p:cNvSpPr/>
            <p:nvPr/>
          </p:nvSpPr>
          <p:spPr>
            <a:xfrm>
              <a:off x="4454707" y="3671618"/>
              <a:ext cx="1191624" cy="1191624"/>
            </a:xfrm>
            <a:prstGeom prst="flowChartProces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3EF995D1-A12A-250D-3DF0-5DEEA84548F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</a:blip>
          <a:srcRect l="70016" t="70428" r="21561" b="21247"/>
          <a:stretch/>
        </p:blipFill>
        <p:spPr>
          <a:xfrm>
            <a:off x="5718556" y="4129120"/>
            <a:ext cx="281287" cy="278030"/>
          </a:xfrm>
          <a:prstGeom prst="rect">
            <a:avLst/>
          </a:prstGeom>
          <a:ln w="28575">
            <a:noFill/>
          </a:ln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65C7762C-6764-7EBC-7B45-08DEA882F3DA}"/>
              </a:ext>
            </a:extLst>
          </p:cNvPr>
          <p:cNvGrpSpPr/>
          <p:nvPr/>
        </p:nvGrpSpPr>
        <p:grpSpPr>
          <a:xfrm>
            <a:off x="5651168" y="4682546"/>
            <a:ext cx="463371" cy="450272"/>
            <a:chOff x="2608564" y="502297"/>
            <a:chExt cx="3467615" cy="3119323"/>
          </a:xfrm>
          <a:solidFill>
            <a:schemeClr val="tx1"/>
          </a:solidFill>
        </p:grpSpPr>
        <p:sp>
          <p:nvSpPr>
            <p:cNvPr id="30" name="Flowchart: Process 29">
              <a:extLst>
                <a:ext uri="{FF2B5EF4-FFF2-40B4-BE49-F238E27FC236}">
                  <a16:creationId xmlns:a16="http://schemas.microsoft.com/office/drawing/2014/main" id="{AF11EBEC-9A63-0F85-9691-7CEE5AA23106}"/>
                </a:ext>
              </a:extLst>
            </p:cNvPr>
            <p:cNvSpPr/>
            <p:nvPr/>
          </p:nvSpPr>
          <p:spPr>
            <a:xfrm>
              <a:off x="2796466" y="1873188"/>
              <a:ext cx="1766656" cy="768096"/>
            </a:xfrm>
            <a:prstGeom prst="flowChartProcess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1" name="Flowchart: Process 30">
              <a:extLst>
                <a:ext uri="{FF2B5EF4-FFF2-40B4-BE49-F238E27FC236}">
                  <a16:creationId xmlns:a16="http://schemas.microsoft.com/office/drawing/2014/main" id="{CAFAD203-59BB-BE5F-CD67-6C838AEA97B4}"/>
                </a:ext>
              </a:extLst>
            </p:cNvPr>
            <p:cNvSpPr/>
            <p:nvPr/>
          </p:nvSpPr>
          <p:spPr>
            <a:xfrm>
              <a:off x="3109200" y="502297"/>
              <a:ext cx="941037" cy="1754938"/>
            </a:xfrm>
            <a:prstGeom prst="flowChartProcess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2" name="Flowchart: Process 31">
              <a:extLst>
                <a:ext uri="{FF2B5EF4-FFF2-40B4-BE49-F238E27FC236}">
                  <a16:creationId xmlns:a16="http://schemas.microsoft.com/office/drawing/2014/main" id="{AEB6DF5B-2A3F-1E20-206D-0AA6AD8D8E96}"/>
                </a:ext>
              </a:extLst>
            </p:cNvPr>
            <p:cNvSpPr/>
            <p:nvPr/>
          </p:nvSpPr>
          <p:spPr>
            <a:xfrm>
              <a:off x="4539864" y="1863184"/>
              <a:ext cx="941029" cy="1754938"/>
            </a:xfrm>
            <a:prstGeom prst="flowChartProcess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7" name="Flowchart: Process 36">
              <a:extLst>
                <a:ext uri="{FF2B5EF4-FFF2-40B4-BE49-F238E27FC236}">
                  <a16:creationId xmlns:a16="http://schemas.microsoft.com/office/drawing/2014/main" id="{20F9070C-F399-C588-CC44-5AEC8F4D62EB}"/>
                </a:ext>
              </a:extLst>
            </p:cNvPr>
            <p:cNvSpPr/>
            <p:nvPr/>
          </p:nvSpPr>
          <p:spPr>
            <a:xfrm>
              <a:off x="4309523" y="2853525"/>
              <a:ext cx="1766656" cy="768095"/>
            </a:xfrm>
            <a:prstGeom prst="flowChartProcess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8" name="Flowchart: Process 37">
              <a:extLst>
                <a:ext uri="{FF2B5EF4-FFF2-40B4-BE49-F238E27FC236}">
                  <a16:creationId xmlns:a16="http://schemas.microsoft.com/office/drawing/2014/main" id="{F3E276B9-9D7D-94BB-69DA-A1DBCCBE4B0F}"/>
                </a:ext>
              </a:extLst>
            </p:cNvPr>
            <p:cNvSpPr/>
            <p:nvPr/>
          </p:nvSpPr>
          <p:spPr>
            <a:xfrm>
              <a:off x="2608564" y="502297"/>
              <a:ext cx="1766656" cy="768095"/>
            </a:xfrm>
            <a:prstGeom prst="flowChartProcess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9" name="Flowchart: Process 38">
              <a:extLst>
                <a:ext uri="{FF2B5EF4-FFF2-40B4-BE49-F238E27FC236}">
                  <a16:creationId xmlns:a16="http://schemas.microsoft.com/office/drawing/2014/main" id="{BA21E7CD-F419-F2C1-8E95-10BECAFFE63F}"/>
                </a:ext>
              </a:extLst>
            </p:cNvPr>
            <p:cNvSpPr/>
            <p:nvPr/>
          </p:nvSpPr>
          <p:spPr>
            <a:xfrm>
              <a:off x="4884043" y="882084"/>
              <a:ext cx="941037" cy="1754938"/>
            </a:xfrm>
            <a:prstGeom prst="flowChartProcess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pic>
        <p:nvPicPr>
          <p:cNvPr id="40" name="Picture 39">
            <a:extLst>
              <a:ext uri="{FF2B5EF4-FFF2-40B4-BE49-F238E27FC236}">
                <a16:creationId xmlns:a16="http://schemas.microsoft.com/office/drawing/2014/main" id="{40646486-D9B9-E28F-5007-FEE0F1A32F59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GlowEdges/>
                    </a14:imgEffect>
                    <a14:imgEffect>
                      <a14:saturation sat="20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12549" y="5803437"/>
            <a:ext cx="906902" cy="906902"/>
          </a:xfrm>
          <a:prstGeom prst="roundRect">
            <a:avLst/>
          </a:prstGeom>
          <a:ln w="28575">
            <a:solidFill>
              <a:schemeClr val="tx1"/>
            </a:solidFill>
          </a:ln>
        </p:spPr>
      </p:pic>
      <p:sp>
        <p:nvSpPr>
          <p:cNvPr id="43" name="Arrow: Bent 42">
            <a:extLst>
              <a:ext uri="{FF2B5EF4-FFF2-40B4-BE49-F238E27FC236}">
                <a16:creationId xmlns:a16="http://schemas.microsoft.com/office/drawing/2014/main" id="{FABADECB-B8D9-19A5-AAC0-92BC31F211F3}"/>
              </a:ext>
            </a:extLst>
          </p:cNvPr>
          <p:cNvSpPr/>
          <p:nvPr/>
        </p:nvSpPr>
        <p:spPr>
          <a:xfrm flipV="1">
            <a:off x="5825961" y="5976571"/>
            <a:ext cx="906903" cy="468447"/>
          </a:xfrm>
          <a:prstGeom prst="bentArrow">
            <a:avLst/>
          </a:prstGeom>
          <a:solidFill>
            <a:srgbClr val="1F2C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CFD232E-668C-DB02-82F2-C4F8932A0468}"/>
              </a:ext>
            </a:extLst>
          </p:cNvPr>
          <p:cNvGrpSpPr/>
          <p:nvPr/>
        </p:nvGrpSpPr>
        <p:grpSpPr>
          <a:xfrm>
            <a:off x="10945368" y="431800"/>
            <a:ext cx="987552" cy="325120"/>
            <a:chOff x="10945368" y="431800"/>
            <a:chExt cx="987552" cy="325120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D030D792-1507-5647-CA21-06B8E7D65CA7}"/>
                </a:ext>
              </a:extLst>
            </p:cNvPr>
            <p:cNvSpPr/>
            <p:nvPr/>
          </p:nvSpPr>
          <p:spPr>
            <a:xfrm>
              <a:off x="11276584" y="431800"/>
              <a:ext cx="325120" cy="325120"/>
            </a:xfrm>
            <a:prstGeom prst="ellipse">
              <a:avLst/>
            </a:prstGeom>
            <a:solidFill>
              <a:srgbClr val="1F2C8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6" name="Slide Number Placeholder 22">
              <a:extLst>
                <a:ext uri="{FF2B5EF4-FFF2-40B4-BE49-F238E27FC236}">
                  <a16:creationId xmlns:a16="http://schemas.microsoft.com/office/drawing/2014/main" id="{41786666-7A9F-67A0-ADE4-E1EABFB5521C}"/>
                </a:ext>
              </a:extLst>
            </p:cNvPr>
            <p:cNvSpPr txBox="1">
              <a:spLocks/>
            </p:cNvSpPr>
            <p:nvPr/>
          </p:nvSpPr>
          <p:spPr>
            <a:xfrm>
              <a:off x="10945368" y="457200"/>
              <a:ext cx="987552" cy="27432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defPPr>
                <a:defRPr lang="en-US"/>
              </a:defPPr>
              <a:lvl1pPr algn="ctr">
                <a:defRPr sz="1200">
                  <a:solidFill>
                    <a:schemeClr val="accent6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48F63A3B-78C7-47BE-AE5E-E10140E04643}" type="slidenum">
                <a:rPr lang="en-US" smtClean="0">
                  <a:solidFill>
                    <a:schemeClr val="accent1"/>
                  </a:solidFill>
                </a:rPr>
                <a:pPr/>
                <a:t>5</a:t>
              </a:fld>
              <a:endParaRPr lang="en-US" dirty="0">
                <a:solidFill>
                  <a:schemeClr val="accent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48464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  <p:sndAc>
          <p:stSnd>
            <p:snd r:embed="rId2" name="wind.wav"/>
          </p:stSnd>
        </p:sndAc>
      </p:transition>
    </mc:Choice>
    <mc:Fallback xmlns="">
      <p:transition spd="slow">
        <p:fade/>
        <p:sndAc>
          <p:stSnd>
            <p:snd r:embed="rId9" name="wind.wav"/>
          </p:stSnd>
        </p:sndAc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309B0-6209-D3D0-9D5E-308B9F6E7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2748" y="941768"/>
            <a:ext cx="6748423" cy="768096"/>
          </a:xfrm>
        </p:spPr>
        <p:txBody>
          <a:bodyPr/>
          <a:lstStyle/>
          <a:p>
            <a:r>
              <a:rPr lang="en-US" dirty="0"/>
              <a:t>components used</a:t>
            </a: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5058AE03-D409-0714-CCED-4548A9C92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6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2C39DD0-CD86-2929-7808-58D17FC2C0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77640" y="3005411"/>
            <a:ext cx="3822192" cy="411480"/>
          </a:xfrm>
        </p:spPr>
        <p:txBody>
          <a:bodyPr/>
          <a:lstStyle/>
          <a:p>
            <a:r>
              <a:rPr lang="en-US" dirty="0"/>
              <a:t>front-end programming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E3C1BFF-2275-1E7D-0604-E6F5CFEC01F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338328" lvl="1" indent="0">
              <a:buNone/>
            </a:pPr>
            <a:r>
              <a:rPr lang="en-US" sz="1800" b="1" dirty="0" err="1"/>
              <a:t>tkinter</a:t>
            </a:r>
            <a:r>
              <a:rPr lang="en-US" sz="1800" b="1" dirty="0"/>
              <a:t>: </a:t>
            </a:r>
          </a:p>
          <a:p>
            <a:pPr lvl="1"/>
            <a:r>
              <a:rPr lang="en-US" sz="1600" dirty="0"/>
              <a:t>A Python’s in-built library for creating the  GUI (Graphical User Interface) of the application.</a:t>
            </a:r>
          </a:p>
          <a:p>
            <a:pPr lvl="1"/>
            <a:endParaRPr lang="en-US" sz="1600" b="1" dirty="0"/>
          </a:p>
          <a:p>
            <a:pPr marL="338328" lvl="1" indent="0">
              <a:buNone/>
            </a:pPr>
            <a:r>
              <a:rPr lang="en-US" sz="1600" b="1" dirty="0"/>
              <a:t>PIL </a:t>
            </a:r>
            <a:r>
              <a:rPr lang="en-US" sz="1600" dirty="0"/>
              <a:t>(</a:t>
            </a:r>
            <a:r>
              <a:rPr lang="en-US" sz="1600" b="1" dirty="0"/>
              <a:t>P</a:t>
            </a:r>
            <a:r>
              <a:rPr lang="en-US" sz="1600" dirty="0"/>
              <a:t>ython </a:t>
            </a:r>
            <a:r>
              <a:rPr lang="en-US" sz="1600" b="1" dirty="0"/>
              <a:t>I</a:t>
            </a:r>
            <a:r>
              <a:rPr lang="en-US" sz="1600" dirty="0"/>
              <a:t>mage </a:t>
            </a:r>
            <a:r>
              <a:rPr lang="en-US" sz="1600" b="1" dirty="0"/>
              <a:t>L</a:t>
            </a:r>
            <a:r>
              <a:rPr lang="en-US" sz="1600" dirty="0"/>
              <a:t>ibrary):</a:t>
            </a:r>
          </a:p>
          <a:p>
            <a:pPr lvl="1"/>
            <a:r>
              <a:rPr lang="en-US" sz="1500" dirty="0"/>
              <a:t>library for</a:t>
            </a:r>
            <a:r>
              <a:rPr lang="en-IN" sz="1500" dirty="0"/>
              <a:t> displaying an image of the QR to the user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618F075-837C-1005-19D6-8DC90759CD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046720" y="3005411"/>
            <a:ext cx="3822192" cy="411480"/>
          </a:xfrm>
        </p:spPr>
        <p:txBody>
          <a:bodyPr/>
          <a:lstStyle/>
          <a:p>
            <a:r>
              <a:rPr lang="en-US" dirty="0"/>
              <a:t>back-end programming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DD1D0BF9-FCAA-67DA-79AB-E6E7E6D2B6A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 b="1" dirty="0"/>
          </a:p>
          <a:p>
            <a:endParaRPr lang="en-US" b="1" dirty="0"/>
          </a:p>
          <a:p>
            <a:r>
              <a:rPr lang="en-US" sz="1800" b="1" dirty="0" err="1"/>
              <a:t>qrcode</a:t>
            </a:r>
            <a:r>
              <a:rPr lang="en-US" sz="1800" b="1" dirty="0"/>
              <a:t>:</a:t>
            </a:r>
          </a:p>
          <a:p>
            <a:pPr lvl="1"/>
            <a:r>
              <a:rPr lang="en-US" sz="1600" dirty="0"/>
              <a:t>A</a:t>
            </a:r>
            <a:r>
              <a:rPr lang="en-IN" sz="1600" dirty="0"/>
              <a:t> Python library for creating QR codes.</a:t>
            </a:r>
          </a:p>
          <a:p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F829663-FD56-01A0-39DA-983C8AD2F0C0}"/>
              </a:ext>
            </a:extLst>
          </p:cNvPr>
          <p:cNvGrpSpPr/>
          <p:nvPr/>
        </p:nvGrpSpPr>
        <p:grpSpPr>
          <a:xfrm>
            <a:off x="10945368" y="431800"/>
            <a:ext cx="987552" cy="325120"/>
            <a:chOff x="10945368" y="431800"/>
            <a:chExt cx="987552" cy="32512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7C4E7842-3303-3C79-744B-556D6516546E}"/>
                </a:ext>
              </a:extLst>
            </p:cNvPr>
            <p:cNvSpPr/>
            <p:nvPr/>
          </p:nvSpPr>
          <p:spPr>
            <a:xfrm>
              <a:off x="11276584" y="431800"/>
              <a:ext cx="325120" cy="325120"/>
            </a:xfrm>
            <a:prstGeom prst="ellipse">
              <a:avLst/>
            </a:prstGeom>
            <a:solidFill>
              <a:srgbClr val="1F2C8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Slide Number Placeholder 22">
              <a:extLst>
                <a:ext uri="{FF2B5EF4-FFF2-40B4-BE49-F238E27FC236}">
                  <a16:creationId xmlns:a16="http://schemas.microsoft.com/office/drawing/2014/main" id="{20EF592B-8C11-9506-266E-09F6B1F12237}"/>
                </a:ext>
              </a:extLst>
            </p:cNvPr>
            <p:cNvSpPr txBox="1">
              <a:spLocks/>
            </p:cNvSpPr>
            <p:nvPr/>
          </p:nvSpPr>
          <p:spPr>
            <a:xfrm>
              <a:off x="10945368" y="457200"/>
              <a:ext cx="987552" cy="27432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defPPr>
                <a:defRPr lang="en-US"/>
              </a:defPPr>
              <a:lvl1pPr algn="ctr">
                <a:defRPr sz="1200">
                  <a:solidFill>
                    <a:schemeClr val="accent6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48F63A3B-78C7-47BE-AE5E-E10140E04643}" type="slidenum">
                <a:rPr lang="en-US" smtClean="0">
                  <a:solidFill>
                    <a:schemeClr val="accent1"/>
                  </a:solidFill>
                </a:rPr>
                <a:pPr/>
                <a:t>6</a:t>
              </a:fld>
              <a:endParaRPr 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7" name="Footer Placeholder 13">
            <a:extLst>
              <a:ext uri="{FF2B5EF4-FFF2-40B4-BE49-F238E27FC236}">
                <a16:creationId xmlns:a16="http://schemas.microsoft.com/office/drawing/2014/main" id="{07B40BC5-67DA-AD50-4FD4-5565EE1EEFAE}"/>
              </a:ext>
            </a:extLst>
          </p:cNvPr>
          <p:cNvSpPr txBox="1">
            <a:spLocks/>
          </p:cNvSpPr>
          <p:nvPr/>
        </p:nvSpPr>
        <p:spPr>
          <a:xfrm>
            <a:off x="8776210" y="6519883"/>
            <a:ext cx="2823888" cy="1873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>
              <a:defRPr sz="1200" b="1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050" dirty="0"/>
              <a:t>QR CODE GENERATOR USING PYTHON</a:t>
            </a:r>
            <a:endParaRPr lang="en-US" sz="1050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6DE278C-D8E6-B19D-20F6-302946846672}"/>
              </a:ext>
            </a:extLst>
          </p:cNvPr>
          <p:cNvCxnSpPr>
            <a:cxnSpLocks/>
          </p:cNvCxnSpPr>
          <p:nvPr/>
        </p:nvCxnSpPr>
        <p:spPr>
          <a:xfrm>
            <a:off x="7655502" y="3107184"/>
            <a:ext cx="22410" cy="3600064"/>
          </a:xfrm>
          <a:prstGeom prst="line">
            <a:avLst/>
          </a:prstGeom>
          <a:ln w="19050" cap="rnd" cmpd="thinThick">
            <a:solidFill>
              <a:srgbClr val="1F2C8F"/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CEE3B7F-5AA0-9068-87DD-299FEF69CDA3}"/>
              </a:ext>
            </a:extLst>
          </p:cNvPr>
          <p:cNvCxnSpPr>
            <a:cxnSpLocks/>
          </p:cNvCxnSpPr>
          <p:nvPr/>
        </p:nvCxnSpPr>
        <p:spPr>
          <a:xfrm>
            <a:off x="7705794" y="3107184"/>
            <a:ext cx="22410" cy="3600064"/>
          </a:xfrm>
          <a:prstGeom prst="line">
            <a:avLst/>
          </a:prstGeom>
          <a:ln w="19050" cap="rnd" cmpd="thinThick">
            <a:solidFill>
              <a:srgbClr val="1F2C8F"/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62B8501-6BCB-0DEE-B79D-2156DB36D12D}"/>
              </a:ext>
            </a:extLst>
          </p:cNvPr>
          <p:cNvSpPr txBox="1"/>
          <p:nvPr/>
        </p:nvSpPr>
        <p:spPr>
          <a:xfrm>
            <a:off x="6136638" y="2079617"/>
            <a:ext cx="3037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solidFill>
                  <a:srgbClr val="1F2C8F"/>
                </a:solidFill>
              </a:rPr>
              <a:t>Visual Studio Code (IDLE)</a:t>
            </a:r>
            <a:endParaRPr lang="en-IN" dirty="0">
              <a:solidFill>
                <a:srgbClr val="1F2C8F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9ACB2DE-BD40-7650-2821-52C914AA59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786272" y="2079617"/>
            <a:ext cx="370878" cy="36933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4227BF3-5123-7A85-A1EB-2B0B833F04BC}"/>
              </a:ext>
            </a:extLst>
          </p:cNvPr>
          <p:cNvSpPr txBox="1"/>
          <p:nvPr/>
        </p:nvSpPr>
        <p:spPr>
          <a:xfrm>
            <a:off x="2652652" y="6858000"/>
            <a:ext cx="68866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4" tooltip="https://en.wikipedia.org/wiki/Visual_Studio_Code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5" tooltip="https://creativecommons.org/licenses/by-sa/3.0/"/>
              </a:rPr>
              <a:t>CC BY-SA</a:t>
            </a:r>
            <a:endParaRPr lang="en-IN" sz="90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B618A-6F93-2D8F-8B02-327D6E9485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7318" y="3455634"/>
            <a:ext cx="394060" cy="4318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B726EB2-D429-D59E-5E59-18C07258E5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05826" y="4900236"/>
            <a:ext cx="271814" cy="274006"/>
          </a:xfrm>
          <a:prstGeom prst="rect">
            <a:avLst/>
          </a:prstGeom>
        </p:spPr>
      </p:pic>
      <p:pic>
        <p:nvPicPr>
          <p:cNvPr id="24" name="Picture Placeholder 35">
            <a:extLst>
              <a:ext uri="{FF2B5EF4-FFF2-40B4-BE49-F238E27FC236}">
                <a16:creationId xmlns:a16="http://schemas.microsoft.com/office/drawing/2014/main" id="{66DE4DFA-8118-F112-26C2-D157F20EAE9F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28987" r="71013">
                        <a14:foregroundMark x1="33379" y1="19474" x2="33379" y2="36316"/>
                        <a14:foregroundMark x1="48690" y1="20789" x2="48690" y2="20789"/>
                        <a14:foregroundMark x1="57379" y1="18947" x2="57379" y2="18947"/>
                        <a14:foregroundMark x1="62345" y1="28421" x2="62345" y2="28421"/>
                        <a14:foregroundMark x1="53241" y1="32368" x2="53241" y2="32368"/>
                        <a14:foregroundMark x1="50207" y1="32105" x2="50207" y2="32105"/>
                        <a14:foregroundMark x1="39862" y1="27368" x2="39862" y2="27368"/>
                        <a14:foregroundMark x1="37103" y1="56053" x2="37103" y2="56053"/>
                        <a14:foregroundMark x1="33517" y1="53158" x2="33517" y2="53158"/>
                        <a14:foregroundMark x1="56966" y1="42632" x2="56966" y2="42632"/>
                        <a14:foregroundMark x1="46207" y1="36842" x2="46207" y2="36842"/>
                        <a14:foregroundMark x1="67586" y1="48158" x2="67586" y2="48158"/>
                        <a14:foregroundMark x1="59862" y1="48947" x2="59862" y2="48947"/>
                        <a14:foregroundMark x1="58207" y1="51053" x2="58207" y2="51053"/>
                        <a14:foregroundMark x1="52966" y1="51579" x2="52966" y2="51579"/>
                        <a14:foregroundMark x1="58069" y1="69737" x2="58069" y2="69737"/>
                        <a14:foregroundMark x1="65793" y1="82632" x2="65793" y2="82632"/>
                        <a14:foregroundMark x1="66897" y1="74737" x2="66897" y2="74737"/>
                        <a14:foregroundMark x1="64828" y1="72105" x2="64828" y2="72105"/>
                        <a14:foregroundMark x1="60138" y1="82632" x2="60138" y2="82632"/>
                        <a14:foregroundMark x1="52828" y1="82368" x2="52828" y2="82368"/>
                        <a14:foregroundMark x1="49517" y1="82895" x2="49517" y2="82895"/>
                        <a14:foregroundMark x1="53793" y1="76842" x2="53793" y2="76842"/>
                        <a14:foregroundMark x1="39448" y1="74737" x2="39448" y2="74737"/>
                        <a14:foregroundMark x1="40690" y1="47632" x2="40690" y2="47632"/>
                        <a14:foregroundMark x1="40552" y1="63421" x2="40552" y2="63421"/>
                        <a14:backgroundMark x1="44414" y1="34737" x2="51586" y2="33684"/>
                        <a14:backgroundMark x1="52828" y1="36579" x2="60828" y2="43158"/>
                        <a14:backgroundMark x1="59951" y1="51053" x2="64276" y2="60526"/>
                        <a14:backgroundMark x1="58990" y1="48947" x2="59951" y2="51053"/>
                        <a14:backgroundMark x1="56828" y1="44211" x2="58990" y2="48947"/>
                        <a14:backgroundMark x1="59310" y1="51842" x2="56552" y2="62105"/>
                        <a14:backgroundMark x1="48249" y1="36842" x2="41931" y2="46579"/>
                        <a14:backgroundMark x1="49103" y1="35526" x2="48249" y2="36842"/>
                        <a14:backgroundMark x1="46069" y1="58684" x2="46069" y2="58684"/>
                        <a14:backgroundMark x1="49655" y1="63158" x2="49655" y2="63158"/>
                        <a14:backgroundMark x1="49793" y1="62105" x2="49793" y2="62105"/>
                        <a14:backgroundMark x1="56966" y1="66842" x2="56966" y2="66842"/>
                      </a14:backgroundRemoval>
                    </a14:imgEffect>
                  </a14:imgLayer>
                </a14:imgProps>
              </a:ext>
            </a:extLst>
          </a:blip>
          <a:srcRect l="23793" r="23793"/>
          <a:stretch/>
        </p:blipFill>
        <p:spPr>
          <a:xfrm>
            <a:off x="7751639" y="3452664"/>
            <a:ext cx="375782" cy="375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2803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  <p:sndAc>
          <p:stSnd>
            <p:snd r:embed="rId2" name="wind.wav"/>
          </p:stSnd>
        </p:sndAc>
      </p:transition>
    </mc:Choice>
    <mc:Fallback xmlns="">
      <p:transition spd="slow">
        <p:fade/>
        <p:sndAc>
          <p:stSnd>
            <p:snd r:embed="rId10" name="wind.wav"/>
          </p:stSnd>
        </p:sndAc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58">
            <a:extLst>
              <a:ext uri="{FF2B5EF4-FFF2-40B4-BE49-F238E27FC236}">
                <a16:creationId xmlns:a16="http://schemas.microsoft.com/office/drawing/2014/main" id="{AEF8B8A3-A566-141B-8035-4023482F27A4}"/>
              </a:ext>
            </a:extLst>
          </p:cNvPr>
          <p:cNvSpPr/>
          <p:nvPr/>
        </p:nvSpPr>
        <p:spPr>
          <a:xfrm>
            <a:off x="713232" y="3931920"/>
            <a:ext cx="3328416" cy="2368296"/>
          </a:xfrm>
          <a:prstGeom prst="rect">
            <a:avLst/>
          </a:prstGeom>
          <a:solidFill>
            <a:srgbClr val="AAC3E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30A5BFC-C134-C072-C14D-9E51A94C8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4000" y="1021376"/>
            <a:ext cx="9700953" cy="768096"/>
          </a:xfrm>
        </p:spPr>
        <p:txBody>
          <a:bodyPr/>
          <a:lstStyle/>
          <a:p>
            <a:r>
              <a:rPr lang="en-US" dirty="0"/>
              <a:t>Brief details of libraries</a:t>
            </a:r>
          </a:p>
        </p:txBody>
      </p:sp>
      <p:sp>
        <p:nvSpPr>
          <p:cNvPr id="374" name="Slide Number Placeholder 373">
            <a:extLst>
              <a:ext uri="{FF2B5EF4-FFF2-40B4-BE49-F238E27FC236}">
                <a16:creationId xmlns:a16="http://schemas.microsoft.com/office/drawing/2014/main" id="{049B2870-98EC-2977-8CE4-A7AA30099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270C77AB-7E91-84A6-3E62-DAB80E1E44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400" dirty="0"/>
              <a:t>PYTHON IMAGE LIBRARY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1DE99DD-C8E4-61F1-EEA7-6A7A9306901A}"/>
              </a:ext>
            </a:extLst>
          </p:cNvPr>
          <p:cNvSpPr/>
          <p:nvPr/>
        </p:nvSpPr>
        <p:spPr>
          <a:xfrm>
            <a:off x="8110728" y="3950208"/>
            <a:ext cx="3328416" cy="2368296"/>
          </a:xfrm>
          <a:prstGeom prst="rect">
            <a:avLst/>
          </a:prstGeom>
          <a:solidFill>
            <a:srgbClr val="D2D59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8026603-2263-D0C8-F930-DBB0ED22C7E9}"/>
              </a:ext>
            </a:extLst>
          </p:cNvPr>
          <p:cNvSpPr/>
          <p:nvPr/>
        </p:nvSpPr>
        <p:spPr>
          <a:xfrm>
            <a:off x="4430268" y="4003548"/>
            <a:ext cx="3328416" cy="23682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2" name="Picture Placeholder 31">
            <a:extLst>
              <a:ext uri="{FF2B5EF4-FFF2-40B4-BE49-F238E27FC236}">
                <a16:creationId xmlns:a16="http://schemas.microsoft.com/office/drawing/2014/main" id="{FD760380-6F27-3F1D-B0B3-3151A9767435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 rotWithShape="1">
          <a:blip r:embed="rId3"/>
          <a:srcRect t="400" b="400"/>
          <a:stretch/>
        </p:blipFill>
        <p:spPr/>
      </p:pic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A3BF8E55-B2B9-104D-F277-08902534735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92124" y="4348480"/>
            <a:ext cx="2770632" cy="1503680"/>
          </a:xfrm>
        </p:spPr>
        <p:txBody>
          <a:bodyPr/>
          <a:lstStyle/>
          <a:p>
            <a:pPr marL="0" lvl="0" indent="0" algn="ctr">
              <a:buNone/>
            </a:pPr>
            <a:r>
              <a:rPr lang="en-IN" sz="1800" b="0" dirty="0">
                <a:solidFill>
                  <a:srgbClr val="1F2C8F"/>
                </a:solidFill>
                <a:effectLst/>
              </a:rPr>
              <a:t>Pillow is a </a:t>
            </a:r>
            <a:r>
              <a:rPr lang="en-IN" sz="1800" b="1" dirty="0">
                <a:solidFill>
                  <a:srgbClr val="1F2C8F"/>
                </a:solidFill>
                <a:effectLst/>
              </a:rPr>
              <a:t>P</a:t>
            </a:r>
            <a:r>
              <a:rPr lang="en-IN" sz="1800" b="0" dirty="0">
                <a:solidFill>
                  <a:srgbClr val="1F2C8F"/>
                </a:solidFill>
                <a:effectLst/>
              </a:rPr>
              <a:t>ython </a:t>
            </a:r>
            <a:r>
              <a:rPr lang="en-IN" sz="1800" b="1" dirty="0">
                <a:solidFill>
                  <a:srgbClr val="1F2C8F"/>
                </a:solidFill>
                <a:effectLst/>
              </a:rPr>
              <a:t>I</a:t>
            </a:r>
            <a:r>
              <a:rPr lang="en-IN" sz="1800" b="0" dirty="0">
                <a:solidFill>
                  <a:srgbClr val="1F2C8F"/>
                </a:solidFill>
                <a:effectLst/>
              </a:rPr>
              <a:t>maging </a:t>
            </a:r>
            <a:r>
              <a:rPr lang="en-IN" sz="1800" b="1" dirty="0">
                <a:solidFill>
                  <a:srgbClr val="1F2C8F"/>
                </a:solidFill>
                <a:effectLst/>
              </a:rPr>
              <a:t>L</a:t>
            </a:r>
            <a:r>
              <a:rPr lang="en-IN" sz="1800" b="0" dirty="0">
                <a:solidFill>
                  <a:srgbClr val="1F2C8F"/>
                </a:solidFill>
                <a:effectLst/>
              </a:rPr>
              <a:t>ibrary (</a:t>
            </a:r>
            <a:r>
              <a:rPr lang="en-IN" sz="1800" b="1" dirty="0">
                <a:solidFill>
                  <a:srgbClr val="1F2C8F"/>
                </a:solidFill>
                <a:effectLst/>
              </a:rPr>
              <a:t>PIL</a:t>
            </a:r>
            <a:r>
              <a:rPr lang="en-IN" sz="1800" b="0" dirty="0">
                <a:solidFill>
                  <a:srgbClr val="1F2C8F"/>
                </a:solidFill>
                <a:effectLst/>
              </a:rPr>
              <a:t>), which adds support for </a:t>
            </a:r>
            <a:r>
              <a:rPr lang="en-IN" sz="1800" b="1" dirty="0">
                <a:solidFill>
                  <a:srgbClr val="1F2C8F"/>
                </a:solidFill>
                <a:effectLst/>
              </a:rPr>
              <a:t>opening</a:t>
            </a:r>
            <a:r>
              <a:rPr lang="en-IN" sz="1800" b="0" dirty="0">
                <a:solidFill>
                  <a:srgbClr val="1F2C8F"/>
                </a:solidFill>
                <a:effectLst/>
              </a:rPr>
              <a:t>, </a:t>
            </a:r>
            <a:r>
              <a:rPr lang="en-IN" sz="1800" b="1" dirty="0">
                <a:solidFill>
                  <a:srgbClr val="1F2C8F"/>
                </a:solidFill>
                <a:effectLst/>
              </a:rPr>
              <a:t>manipulating</a:t>
            </a:r>
            <a:r>
              <a:rPr lang="en-IN" sz="1800" b="0" dirty="0">
                <a:solidFill>
                  <a:srgbClr val="1F2C8F"/>
                </a:solidFill>
                <a:effectLst/>
              </a:rPr>
              <a:t>, and </a:t>
            </a:r>
            <a:r>
              <a:rPr lang="en-IN" sz="1800" b="1" dirty="0">
                <a:solidFill>
                  <a:srgbClr val="1F2C8F"/>
                </a:solidFill>
                <a:effectLst/>
              </a:rPr>
              <a:t>saving images</a:t>
            </a:r>
            <a:endParaRPr lang="en-US" sz="1800" b="1" dirty="0">
              <a:solidFill>
                <a:srgbClr val="1F2C8F"/>
              </a:solidFill>
            </a:endParaRP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15DD9AC8-4A5F-70DB-AA68-C461059D81A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 err="1"/>
              <a:t>Qr</a:t>
            </a:r>
            <a:r>
              <a:rPr lang="en-US" dirty="0"/>
              <a:t> code library</a:t>
            </a:r>
          </a:p>
          <a:p>
            <a:endParaRPr lang="en-US" dirty="0"/>
          </a:p>
        </p:txBody>
      </p:sp>
      <p:pic>
        <p:nvPicPr>
          <p:cNvPr id="36" name="Picture Placeholder 35">
            <a:extLst>
              <a:ext uri="{FF2B5EF4-FFF2-40B4-BE49-F238E27FC236}">
                <a16:creationId xmlns:a16="http://schemas.microsoft.com/office/drawing/2014/main" id="{F5B62A63-2A6E-2E5C-CBD4-5D304C8E2F1D}"/>
              </a:ext>
            </a:extLst>
          </p:cNvPr>
          <p:cNvPicPr>
            <a:picLocks noGrp="1" noChangeAspect="1"/>
          </p:cNvPicPr>
          <p:nvPr>
            <p:ph type="pic" sz="quarter" idx="25"/>
          </p:nvPr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28987" r="71013">
                        <a14:foregroundMark x1="33379" y1="19474" x2="33379" y2="36316"/>
                        <a14:foregroundMark x1="48690" y1="20789" x2="48690" y2="20789"/>
                        <a14:foregroundMark x1="57379" y1="18947" x2="57379" y2="18947"/>
                        <a14:foregroundMark x1="62345" y1="28421" x2="62345" y2="28421"/>
                        <a14:foregroundMark x1="53241" y1="32368" x2="53241" y2="32368"/>
                        <a14:foregroundMark x1="50207" y1="32105" x2="50207" y2="32105"/>
                        <a14:foregroundMark x1="39862" y1="27368" x2="39862" y2="27368"/>
                        <a14:foregroundMark x1="37103" y1="56053" x2="37103" y2="56053"/>
                        <a14:foregroundMark x1="33517" y1="53158" x2="33517" y2="53158"/>
                        <a14:foregroundMark x1="56966" y1="42632" x2="56966" y2="42632"/>
                        <a14:foregroundMark x1="46207" y1="36842" x2="46207" y2="36842"/>
                        <a14:foregroundMark x1="67586" y1="48158" x2="67586" y2="48158"/>
                        <a14:foregroundMark x1="59862" y1="48947" x2="59862" y2="48947"/>
                        <a14:foregroundMark x1="58207" y1="51053" x2="58207" y2="51053"/>
                        <a14:foregroundMark x1="52966" y1="51579" x2="52966" y2="51579"/>
                        <a14:foregroundMark x1="58069" y1="69737" x2="58069" y2="69737"/>
                        <a14:foregroundMark x1="65793" y1="82632" x2="65793" y2="82632"/>
                        <a14:foregroundMark x1="66897" y1="74737" x2="66897" y2="74737"/>
                        <a14:foregroundMark x1="64828" y1="72105" x2="64828" y2="72105"/>
                        <a14:foregroundMark x1="60138" y1="82632" x2="60138" y2="82632"/>
                        <a14:foregroundMark x1="52828" y1="82368" x2="52828" y2="82368"/>
                        <a14:foregroundMark x1="49517" y1="82895" x2="49517" y2="82895"/>
                        <a14:foregroundMark x1="53793" y1="76842" x2="53793" y2="76842"/>
                        <a14:foregroundMark x1="39448" y1="74737" x2="39448" y2="74737"/>
                        <a14:foregroundMark x1="40690" y1="47632" x2="40690" y2="47632"/>
                        <a14:foregroundMark x1="40552" y1="63421" x2="40552" y2="63421"/>
                        <a14:backgroundMark x1="44414" y1="34737" x2="51586" y2="33684"/>
                        <a14:backgroundMark x1="52828" y1="36579" x2="60828" y2="43158"/>
                        <a14:backgroundMark x1="59951" y1="51053" x2="64276" y2="60526"/>
                        <a14:backgroundMark x1="58990" y1="48947" x2="59951" y2="51053"/>
                        <a14:backgroundMark x1="56828" y1="44211" x2="58990" y2="48947"/>
                        <a14:backgroundMark x1="59310" y1="51842" x2="56552" y2="62105"/>
                        <a14:backgroundMark x1="48249" y1="36842" x2="41931" y2="46579"/>
                        <a14:backgroundMark x1="49103" y1="35526" x2="48249" y2="36842"/>
                        <a14:backgroundMark x1="46069" y1="58684" x2="46069" y2="58684"/>
                        <a14:backgroundMark x1="49655" y1="63158" x2="49655" y2="63158"/>
                        <a14:backgroundMark x1="49793" y1="62105" x2="49793" y2="62105"/>
                        <a14:backgroundMark x1="56966" y1="66842" x2="56966" y2="66842"/>
                      </a14:backgroundRemoval>
                    </a14:imgEffect>
                  </a14:imgLayer>
                </a14:imgProps>
              </a:ext>
            </a:extLst>
          </a:blip>
          <a:srcRect l="23793" r="23793"/>
          <a:stretch/>
        </p:blipFill>
        <p:spPr>
          <a:prstGeom prst="ellipse">
            <a:avLst/>
          </a:prstGeom>
        </p:spPr>
      </p:pic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D850F2AE-BBF5-22DC-BCBB-87AC39409EF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632960" y="4348480"/>
            <a:ext cx="2946400" cy="1503680"/>
          </a:xfrm>
        </p:spPr>
        <p:txBody>
          <a:bodyPr/>
          <a:lstStyle/>
          <a:p>
            <a:pPr marL="0" indent="0" algn="ctr">
              <a:buNone/>
            </a:pPr>
            <a:r>
              <a:rPr lang="en-IN" sz="1800" dirty="0">
                <a:solidFill>
                  <a:srgbClr val="CC4C4C"/>
                </a:solidFill>
              </a:rPr>
              <a:t>This is a QR code generator library which automates most of the building process for creating QR code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A28A203B-0CF0-2AB0-5F54-07C8E300391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 err="1"/>
              <a:t>Tkinter</a:t>
            </a:r>
            <a:r>
              <a:rPr lang="en-US" dirty="0"/>
              <a:t> library</a:t>
            </a:r>
          </a:p>
          <a:p>
            <a:endParaRPr lang="en-US" dirty="0"/>
          </a:p>
        </p:txBody>
      </p:sp>
      <p:pic>
        <p:nvPicPr>
          <p:cNvPr id="40" name="Picture Placeholder 39">
            <a:extLst>
              <a:ext uri="{FF2B5EF4-FFF2-40B4-BE49-F238E27FC236}">
                <a16:creationId xmlns:a16="http://schemas.microsoft.com/office/drawing/2014/main" id="{D714A0C4-5117-9380-44B3-1EDEFF2B40D0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 rotWithShape="1">
          <a:blip r:embed="rId6"/>
          <a:srcRect t="4448" b="4448"/>
          <a:stretch/>
        </p:blipFill>
        <p:spPr/>
      </p:pic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710CB940-D45B-59F1-06E5-9CC94100EF0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74736" y="4348480"/>
            <a:ext cx="3246120" cy="1503680"/>
          </a:xfrm>
        </p:spPr>
        <p:txBody>
          <a:bodyPr/>
          <a:lstStyle/>
          <a:p>
            <a:pPr marL="0" lvl="0" indent="0" algn="ctr">
              <a:buNone/>
            </a:pPr>
            <a:r>
              <a:rPr lang="en-IN" sz="1800" b="1" dirty="0" err="1">
                <a:solidFill>
                  <a:srgbClr val="535521"/>
                </a:solidFill>
                <a:effectLst/>
              </a:rPr>
              <a:t>Tkinter</a:t>
            </a:r>
            <a:r>
              <a:rPr lang="en-IN" sz="1800" b="0" dirty="0">
                <a:solidFill>
                  <a:srgbClr val="535521"/>
                </a:solidFill>
                <a:effectLst/>
              </a:rPr>
              <a:t> is the Python interface to the Tk </a:t>
            </a:r>
            <a:r>
              <a:rPr lang="en-IN" sz="1800" b="1" dirty="0">
                <a:solidFill>
                  <a:srgbClr val="535521"/>
                </a:solidFill>
                <a:effectLst/>
              </a:rPr>
              <a:t>GUI</a:t>
            </a:r>
            <a:r>
              <a:rPr lang="en-IN" sz="1800" b="0" dirty="0">
                <a:solidFill>
                  <a:srgbClr val="535521"/>
                </a:solidFill>
                <a:effectLst/>
              </a:rPr>
              <a:t> toolkit shipped with Python, which provides a </a:t>
            </a:r>
            <a:r>
              <a:rPr lang="en-IN" sz="1800" b="1" dirty="0">
                <a:solidFill>
                  <a:srgbClr val="535521"/>
                </a:solidFill>
                <a:effectLst/>
              </a:rPr>
              <a:t>fast</a:t>
            </a:r>
            <a:r>
              <a:rPr lang="en-IN" sz="1800" b="0" dirty="0">
                <a:solidFill>
                  <a:srgbClr val="535521"/>
                </a:solidFill>
                <a:effectLst/>
              </a:rPr>
              <a:t> and </a:t>
            </a:r>
            <a:r>
              <a:rPr lang="en-IN" sz="1800" b="1" dirty="0">
                <a:solidFill>
                  <a:srgbClr val="535521"/>
                </a:solidFill>
                <a:effectLst/>
              </a:rPr>
              <a:t>easy way </a:t>
            </a:r>
            <a:r>
              <a:rPr lang="en-IN" sz="1800" b="0" dirty="0">
                <a:solidFill>
                  <a:srgbClr val="535521"/>
                </a:solidFill>
                <a:effectLst/>
              </a:rPr>
              <a:t>to create </a:t>
            </a:r>
            <a:r>
              <a:rPr lang="en-IN" sz="1800" b="1" dirty="0">
                <a:solidFill>
                  <a:srgbClr val="535521"/>
                </a:solidFill>
                <a:effectLst/>
              </a:rPr>
              <a:t>GUI applications</a:t>
            </a:r>
            <a:endParaRPr lang="en-US" sz="1800" b="1" dirty="0">
              <a:solidFill>
                <a:srgbClr val="53552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756814E-33C3-536E-CADF-A0B2771BDE62}"/>
              </a:ext>
            </a:extLst>
          </p:cNvPr>
          <p:cNvGrpSpPr/>
          <p:nvPr/>
        </p:nvGrpSpPr>
        <p:grpSpPr>
          <a:xfrm>
            <a:off x="10945368" y="431800"/>
            <a:ext cx="987552" cy="325120"/>
            <a:chOff x="10945368" y="431800"/>
            <a:chExt cx="987552" cy="32512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D076E68C-25A0-3900-5384-2129E5F77E82}"/>
                </a:ext>
              </a:extLst>
            </p:cNvPr>
            <p:cNvSpPr/>
            <p:nvPr/>
          </p:nvSpPr>
          <p:spPr>
            <a:xfrm>
              <a:off x="11276584" y="431800"/>
              <a:ext cx="325120" cy="325120"/>
            </a:xfrm>
            <a:prstGeom prst="ellipse">
              <a:avLst/>
            </a:prstGeom>
            <a:solidFill>
              <a:srgbClr val="1F2C8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Slide Number Placeholder 22">
              <a:extLst>
                <a:ext uri="{FF2B5EF4-FFF2-40B4-BE49-F238E27FC236}">
                  <a16:creationId xmlns:a16="http://schemas.microsoft.com/office/drawing/2014/main" id="{65243607-8481-573C-5EA8-E419F0949B39}"/>
                </a:ext>
              </a:extLst>
            </p:cNvPr>
            <p:cNvSpPr txBox="1">
              <a:spLocks/>
            </p:cNvSpPr>
            <p:nvPr/>
          </p:nvSpPr>
          <p:spPr>
            <a:xfrm>
              <a:off x="10945368" y="457200"/>
              <a:ext cx="987552" cy="27432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defPPr>
                <a:defRPr lang="en-US"/>
              </a:defPPr>
              <a:lvl1pPr algn="ctr">
                <a:defRPr sz="1200">
                  <a:solidFill>
                    <a:schemeClr val="accent6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48F63A3B-78C7-47BE-AE5E-E10140E04643}" type="slidenum">
                <a:rPr lang="en-US" smtClean="0">
                  <a:solidFill>
                    <a:schemeClr val="accent1"/>
                  </a:solidFill>
                </a:rPr>
                <a:pPr/>
                <a:t>7</a:t>
              </a:fld>
              <a:endParaRPr 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13" name="Footer Placeholder 13">
            <a:extLst>
              <a:ext uri="{FF2B5EF4-FFF2-40B4-BE49-F238E27FC236}">
                <a16:creationId xmlns:a16="http://schemas.microsoft.com/office/drawing/2014/main" id="{FC66184B-0852-4766-9F1D-02B14F34B374}"/>
              </a:ext>
            </a:extLst>
          </p:cNvPr>
          <p:cNvSpPr txBox="1">
            <a:spLocks/>
          </p:cNvSpPr>
          <p:nvPr/>
        </p:nvSpPr>
        <p:spPr>
          <a:xfrm>
            <a:off x="8776210" y="6519883"/>
            <a:ext cx="2823888" cy="1873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>
              <a:defRPr sz="1200" b="1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050" dirty="0"/>
              <a:t>QR CODE GENERATOR USING PYTHON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60049450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  <p:sndAc>
          <p:stSnd>
            <p:snd r:embed="rId2" name="explode.wav"/>
          </p:stSnd>
        </p:sndAc>
      </p:transition>
    </mc:Choice>
    <mc:Fallback xmlns="">
      <p:transition spd="slow">
        <p:fade/>
        <p:sndAc>
          <p:stSnd>
            <p:snd r:embed="rId7" name="explode.wav"/>
          </p:stSnd>
        </p:sndAc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2255" y="1303828"/>
            <a:ext cx="3284623" cy="768096"/>
          </a:xfrm>
        </p:spPr>
        <p:txBody>
          <a:bodyPr/>
          <a:lstStyle/>
          <a:p>
            <a:r>
              <a:rPr lang="en-US" sz="4400" b="1" dirty="0">
                <a:solidFill>
                  <a:schemeClr val="accent6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Working</a:t>
            </a:r>
          </a:p>
        </p:txBody>
      </p:sp>
      <p:sp>
        <p:nvSpPr>
          <p:cNvPr id="4" name="Slide Number Placeholder 22">
            <a:extLst>
              <a:ext uri="{FF2B5EF4-FFF2-40B4-BE49-F238E27FC236}">
                <a16:creationId xmlns:a16="http://schemas.microsoft.com/office/drawing/2014/main" id="{72AB52AB-5365-1324-E53F-4271BFD8476F}"/>
              </a:ext>
            </a:extLst>
          </p:cNvPr>
          <p:cNvSpPr txBox="1">
            <a:spLocks/>
          </p:cNvSpPr>
          <p:nvPr/>
        </p:nvSpPr>
        <p:spPr>
          <a:xfrm>
            <a:off x="10945368" y="457200"/>
            <a:ext cx="987552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algn="ctr">
              <a:defRPr sz="120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mtClean="0">
                <a:solidFill>
                  <a:schemeClr val="accent1"/>
                </a:solidFill>
              </a:rPr>
              <a:pPr/>
              <a:t>8</a:t>
            </a:fld>
            <a:endParaRPr lang="en-US" dirty="0">
              <a:solidFill>
                <a:schemeClr val="accent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B5E9B1B-F94D-8B6E-9373-F0B57C8721B9}"/>
              </a:ext>
            </a:extLst>
          </p:cNvPr>
          <p:cNvGrpSpPr/>
          <p:nvPr/>
        </p:nvGrpSpPr>
        <p:grpSpPr>
          <a:xfrm>
            <a:off x="10945368" y="431800"/>
            <a:ext cx="987552" cy="325120"/>
            <a:chOff x="10945368" y="431800"/>
            <a:chExt cx="987552" cy="32512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1AA25A5-8EB4-0C3D-96EA-1200FEF9C867}"/>
                </a:ext>
              </a:extLst>
            </p:cNvPr>
            <p:cNvSpPr/>
            <p:nvPr/>
          </p:nvSpPr>
          <p:spPr>
            <a:xfrm>
              <a:off x="11276584" y="431800"/>
              <a:ext cx="325120" cy="325120"/>
            </a:xfrm>
            <a:prstGeom prst="ellipse">
              <a:avLst/>
            </a:prstGeom>
            <a:solidFill>
              <a:srgbClr val="1F2C8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Slide Number Placeholder 22">
              <a:extLst>
                <a:ext uri="{FF2B5EF4-FFF2-40B4-BE49-F238E27FC236}">
                  <a16:creationId xmlns:a16="http://schemas.microsoft.com/office/drawing/2014/main" id="{E2D38D13-E9A4-2F9B-328B-69191BB70209}"/>
                </a:ext>
              </a:extLst>
            </p:cNvPr>
            <p:cNvSpPr txBox="1">
              <a:spLocks/>
            </p:cNvSpPr>
            <p:nvPr/>
          </p:nvSpPr>
          <p:spPr>
            <a:xfrm>
              <a:off x="10945368" y="457200"/>
              <a:ext cx="987552" cy="27432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defPPr>
                <a:defRPr lang="en-US"/>
              </a:defPPr>
              <a:lvl1pPr algn="ctr">
                <a:defRPr sz="1200">
                  <a:solidFill>
                    <a:schemeClr val="accent6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48F63A3B-78C7-47BE-AE5E-E10140E04643}" type="slidenum">
                <a:rPr lang="en-US" smtClean="0">
                  <a:solidFill>
                    <a:schemeClr val="accent1"/>
                  </a:solidFill>
                </a:rPr>
                <a:pPr/>
                <a:t>8</a:t>
              </a:fld>
              <a:endParaRPr 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15" name="Footer Placeholder 13">
            <a:extLst>
              <a:ext uri="{FF2B5EF4-FFF2-40B4-BE49-F238E27FC236}">
                <a16:creationId xmlns:a16="http://schemas.microsoft.com/office/drawing/2014/main" id="{6C72D557-2320-A4D7-6FFA-1FF542CBEDCF}"/>
              </a:ext>
            </a:extLst>
          </p:cNvPr>
          <p:cNvSpPr txBox="1">
            <a:spLocks/>
          </p:cNvSpPr>
          <p:nvPr/>
        </p:nvSpPr>
        <p:spPr>
          <a:xfrm>
            <a:off x="8776210" y="6519883"/>
            <a:ext cx="2823888" cy="1873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>
              <a:defRPr sz="1200" b="1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050" dirty="0"/>
              <a:t>QR CODE GENERATOR USING PYTHON</a:t>
            </a:r>
            <a:endParaRPr lang="en-US" sz="10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41D799-8922-E106-CEE2-16389D1D193B}"/>
              </a:ext>
            </a:extLst>
          </p:cNvPr>
          <p:cNvSpPr txBox="1"/>
          <p:nvPr/>
        </p:nvSpPr>
        <p:spPr>
          <a:xfrm>
            <a:off x="3035362" y="2071924"/>
            <a:ext cx="4878410" cy="33396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en-IN" dirty="0">
                <a:solidFill>
                  <a:srgbClr val="1F2C8F"/>
                </a:solidFill>
              </a:rPr>
              <a:t>Taking </a:t>
            </a:r>
            <a:r>
              <a:rPr lang="en-IN" b="1" dirty="0">
                <a:solidFill>
                  <a:srgbClr val="1F2C8F"/>
                </a:solidFill>
              </a:rPr>
              <a:t>user input</a:t>
            </a:r>
            <a:r>
              <a:rPr lang="en-IN" dirty="0">
                <a:solidFill>
                  <a:srgbClr val="1F2C8F"/>
                </a:solidFill>
              </a:rPr>
              <a:t> with Entry box</a:t>
            </a:r>
          </a:p>
          <a:p>
            <a:pPr marL="285750" indent="-285750">
              <a:lnSpc>
                <a:spcPct val="200000"/>
              </a:lnSpc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en-IN" dirty="0">
                <a:solidFill>
                  <a:srgbClr val="1F2C8F"/>
                </a:solidFill>
              </a:rPr>
              <a:t>Taking </a:t>
            </a:r>
            <a:r>
              <a:rPr lang="en-IN" b="1" dirty="0">
                <a:solidFill>
                  <a:srgbClr val="1F2C8F"/>
                </a:solidFill>
              </a:rPr>
              <a:t>colour</a:t>
            </a:r>
            <a:r>
              <a:rPr lang="en-IN" dirty="0">
                <a:solidFill>
                  <a:srgbClr val="1F2C8F"/>
                </a:solidFill>
              </a:rPr>
              <a:t> of the QR </a:t>
            </a:r>
            <a:r>
              <a:rPr lang="en-IN" b="1" dirty="0">
                <a:solidFill>
                  <a:srgbClr val="1F2C8F"/>
                </a:solidFill>
              </a:rPr>
              <a:t>pattern</a:t>
            </a:r>
            <a:r>
              <a:rPr lang="en-IN" dirty="0">
                <a:solidFill>
                  <a:srgbClr val="1F2C8F"/>
                </a:solidFill>
              </a:rPr>
              <a:t> from user</a:t>
            </a:r>
          </a:p>
          <a:p>
            <a:pPr marL="285750" indent="-285750">
              <a:lnSpc>
                <a:spcPct val="200000"/>
              </a:lnSpc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en-IN" dirty="0">
                <a:solidFill>
                  <a:srgbClr val="1F2C8F"/>
                </a:solidFill>
              </a:rPr>
              <a:t>Taking </a:t>
            </a:r>
            <a:r>
              <a:rPr lang="en-IN" b="1" dirty="0">
                <a:solidFill>
                  <a:srgbClr val="1F2C8F"/>
                </a:solidFill>
              </a:rPr>
              <a:t>background</a:t>
            </a:r>
            <a:r>
              <a:rPr lang="en-IN" dirty="0">
                <a:solidFill>
                  <a:srgbClr val="1F2C8F"/>
                </a:solidFill>
              </a:rPr>
              <a:t> colour of the QR</a:t>
            </a:r>
          </a:p>
          <a:p>
            <a:pPr marL="285750" indent="-285750">
              <a:lnSpc>
                <a:spcPct val="200000"/>
              </a:lnSpc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en-IN" dirty="0">
                <a:solidFill>
                  <a:srgbClr val="1F2C8F"/>
                </a:solidFill>
              </a:rPr>
              <a:t>Generating the QR with </a:t>
            </a:r>
            <a:r>
              <a:rPr lang="en-IN" b="1" dirty="0" err="1">
                <a:solidFill>
                  <a:srgbClr val="1F2C8F"/>
                </a:solidFill>
              </a:rPr>
              <a:t>qrcode</a:t>
            </a:r>
            <a:r>
              <a:rPr lang="en-IN" dirty="0">
                <a:solidFill>
                  <a:srgbClr val="1F2C8F"/>
                </a:solidFill>
              </a:rPr>
              <a:t> library</a:t>
            </a:r>
          </a:p>
          <a:p>
            <a:pPr marL="285750" indent="-285750">
              <a:lnSpc>
                <a:spcPct val="200000"/>
              </a:lnSpc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en-IN" dirty="0">
                <a:solidFill>
                  <a:srgbClr val="1F2C8F"/>
                </a:solidFill>
              </a:rPr>
              <a:t>Showing the </a:t>
            </a:r>
            <a:r>
              <a:rPr lang="en-IN" b="1" dirty="0">
                <a:solidFill>
                  <a:srgbClr val="1F2C8F"/>
                </a:solidFill>
              </a:rPr>
              <a:t>generated QR </a:t>
            </a:r>
            <a:r>
              <a:rPr lang="en-IN" dirty="0">
                <a:solidFill>
                  <a:srgbClr val="1F2C8F"/>
                </a:solidFill>
              </a:rPr>
              <a:t>to the user</a:t>
            </a:r>
          </a:p>
          <a:p>
            <a:pPr marL="285750" indent="-285750">
              <a:lnSpc>
                <a:spcPct val="200000"/>
              </a:lnSpc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en-IN" dirty="0">
                <a:solidFill>
                  <a:srgbClr val="1F2C8F"/>
                </a:solidFill>
              </a:rPr>
              <a:t>Saving the QR as an </a:t>
            </a:r>
            <a:r>
              <a:rPr lang="en-IN" b="1" dirty="0">
                <a:solidFill>
                  <a:srgbClr val="1F2C8F"/>
                </a:solidFill>
              </a:rPr>
              <a:t>image file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7CEDA75-A604-BE57-692F-9CA7D82C1D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8618" y="1117880"/>
            <a:ext cx="3531757" cy="4622239"/>
          </a:xfrm>
          <a:prstGeom prst="roundRect">
            <a:avLst>
              <a:gd name="adj" fmla="val 3919"/>
            </a:avLst>
          </a:prstGeom>
          <a:scene3d>
            <a:camera prst="orthographicFront"/>
            <a:lightRig rig="threePt" dir="t"/>
          </a:scene3d>
          <a:sp3d>
            <a:bevelT/>
          </a:sp3d>
        </p:spPr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  <p:sndAc>
          <p:stSnd>
            <p:snd r:embed="rId2" name="breeze.wav"/>
          </p:stSnd>
        </p:sndAc>
      </p:transition>
    </mc:Choice>
    <mc:Fallback xmlns="">
      <p:transition spd="slow">
        <p:fade/>
        <p:sndAc>
          <p:stSnd>
            <p:snd r:embed="rId4" name="breeze.wav"/>
          </p:stSnd>
        </p:sndAc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30A5BFC-C134-C072-C14D-9E51A94C8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4408" y="1216152"/>
            <a:ext cx="3740137" cy="768096"/>
          </a:xfrm>
        </p:spPr>
        <p:txBody>
          <a:bodyPr/>
          <a:lstStyle/>
          <a:p>
            <a:r>
              <a:rPr lang="en-US" dirty="0"/>
              <a:t>USE CASES</a:t>
            </a:r>
          </a:p>
        </p:txBody>
      </p:sp>
      <p:sp>
        <p:nvSpPr>
          <p:cNvPr id="175" name="Slide Number Placeholder 174">
            <a:extLst>
              <a:ext uri="{FF2B5EF4-FFF2-40B4-BE49-F238E27FC236}">
                <a16:creationId xmlns:a16="http://schemas.microsoft.com/office/drawing/2014/main" id="{1DECFA06-D307-B47D-DA95-31161374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6" name="Text Placeholder 55">
            <a:extLst>
              <a:ext uri="{FF2B5EF4-FFF2-40B4-BE49-F238E27FC236}">
                <a16:creationId xmlns:a16="http://schemas.microsoft.com/office/drawing/2014/main" id="{42027341-30B3-44DB-373E-60B96EBF20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500" i="0" dirty="0">
                <a:solidFill>
                  <a:srgbClr val="1F2C8F"/>
                </a:solidFill>
                <a:effectLst/>
                <a:latin typeface="Arial" panose="020B0604020202020204" pitchFamily="34" charset="0"/>
              </a:rPr>
              <a:t>QR code payment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49B99446-8DB8-EAE8-ADEB-8E02F160B1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sz="1600" b="1" i="0" dirty="0"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Website login</a:t>
            </a:r>
          </a:p>
        </p:txBody>
      </p:sp>
      <p:sp>
        <p:nvSpPr>
          <p:cNvPr id="58" name="Text Placeholder 57">
            <a:extLst>
              <a:ext uri="{FF2B5EF4-FFF2-40B4-BE49-F238E27FC236}">
                <a16:creationId xmlns:a16="http://schemas.microsoft.com/office/drawing/2014/main" id="{4F1381C5-2C37-6542-2CC4-2EBF6B0C41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sz="1500" b="1" i="0" dirty="0">
                <a:solidFill>
                  <a:srgbClr val="1F2C8F"/>
                </a:solidFill>
                <a:effectLst/>
                <a:latin typeface="Arial" panose="020B0604020202020204" pitchFamily="34" charset="0"/>
              </a:rPr>
              <a:t>E-authentication</a:t>
            </a:r>
          </a:p>
        </p:txBody>
      </p:sp>
      <p:sp>
        <p:nvSpPr>
          <p:cNvPr id="59" name="Text Placeholder 58">
            <a:extLst>
              <a:ext uri="{FF2B5EF4-FFF2-40B4-BE49-F238E27FC236}">
                <a16:creationId xmlns:a16="http://schemas.microsoft.com/office/drawing/2014/main" id="{9348E88D-CFB1-4BF1-41EC-723BBD602AF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IN" sz="1600" b="1" i="0" dirty="0">
                <a:solidFill>
                  <a:schemeClr val="accent1">
                    <a:lumMod val="50000"/>
                  </a:schemeClr>
                </a:solidFill>
                <a:effectLst/>
              </a:rPr>
              <a:t>Share discount coupons</a:t>
            </a:r>
            <a:endParaRPr lang="en-IN" sz="1600" b="0" i="0" dirty="0">
              <a:solidFill>
                <a:schemeClr val="accent1">
                  <a:lumMod val="50000"/>
                </a:schemeClr>
              </a:solidFill>
              <a:effectLst/>
            </a:endParaRPr>
          </a:p>
        </p:txBody>
      </p:sp>
      <p:sp>
        <p:nvSpPr>
          <p:cNvPr id="60" name="Text Placeholder 59">
            <a:extLst>
              <a:ext uri="{FF2B5EF4-FFF2-40B4-BE49-F238E27FC236}">
                <a16:creationId xmlns:a16="http://schemas.microsoft.com/office/drawing/2014/main" id="{E1B218F5-E615-C534-C7FC-E5578159653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 lvl="0"/>
            <a:r>
              <a:rPr lang="en-US" sz="1600" dirty="0"/>
              <a:t>Touchless system</a:t>
            </a:r>
          </a:p>
        </p:txBody>
      </p:sp>
      <p:sp>
        <p:nvSpPr>
          <p:cNvPr id="139" name="Rectangle 138" descr="Timeline marker">
            <a:extLst>
              <a:ext uri="{FF2B5EF4-FFF2-40B4-BE49-F238E27FC236}">
                <a16:creationId xmlns:a16="http://schemas.microsoft.com/office/drawing/2014/main" id="{632DC974-3AFC-3B05-984D-8920F2613BAB}"/>
              </a:ext>
            </a:extLst>
          </p:cNvPr>
          <p:cNvSpPr/>
          <p:nvPr/>
        </p:nvSpPr>
        <p:spPr>
          <a:xfrm rot="16200000">
            <a:off x="1669440" y="4056839"/>
            <a:ext cx="81643" cy="26125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Rectangle 140" descr="Timeline marker">
            <a:extLst>
              <a:ext uri="{FF2B5EF4-FFF2-40B4-BE49-F238E27FC236}">
                <a16:creationId xmlns:a16="http://schemas.microsoft.com/office/drawing/2014/main" id="{F2040969-B583-70C1-87C1-D19C7BB276E9}"/>
              </a:ext>
            </a:extLst>
          </p:cNvPr>
          <p:cNvSpPr/>
          <p:nvPr/>
        </p:nvSpPr>
        <p:spPr>
          <a:xfrm rot="16200000">
            <a:off x="3881150" y="4056839"/>
            <a:ext cx="81643" cy="261257"/>
          </a:xfrm>
          <a:prstGeom prst="rect">
            <a:avLst/>
          </a:prstGeom>
          <a:solidFill>
            <a:srgbClr val="F5CD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Rectangle 142" descr="Timeline marker">
            <a:extLst>
              <a:ext uri="{FF2B5EF4-FFF2-40B4-BE49-F238E27FC236}">
                <a16:creationId xmlns:a16="http://schemas.microsoft.com/office/drawing/2014/main" id="{916357F2-DD2F-AE73-F0FE-19F36A996C0A}"/>
              </a:ext>
            </a:extLst>
          </p:cNvPr>
          <p:cNvSpPr/>
          <p:nvPr/>
        </p:nvSpPr>
        <p:spPr>
          <a:xfrm rot="16200000">
            <a:off x="6045016" y="4056839"/>
            <a:ext cx="81643" cy="26125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Rectangle 144" descr="Timeline marker">
            <a:extLst>
              <a:ext uri="{FF2B5EF4-FFF2-40B4-BE49-F238E27FC236}">
                <a16:creationId xmlns:a16="http://schemas.microsoft.com/office/drawing/2014/main" id="{061F8191-7958-A3B6-D754-56FAB2742504}"/>
              </a:ext>
            </a:extLst>
          </p:cNvPr>
          <p:cNvSpPr/>
          <p:nvPr/>
        </p:nvSpPr>
        <p:spPr>
          <a:xfrm rot="16200000">
            <a:off x="8264631" y="4056839"/>
            <a:ext cx="81643" cy="261257"/>
          </a:xfrm>
          <a:prstGeom prst="rect">
            <a:avLst/>
          </a:prstGeom>
          <a:solidFill>
            <a:srgbClr val="F5CD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Rectangle 146" descr="Timeline marker">
            <a:extLst>
              <a:ext uri="{FF2B5EF4-FFF2-40B4-BE49-F238E27FC236}">
                <a16:creationId xmlns:a16="http://schemas.microsoft.com/office/drawing/2014/main" id="{FA6C0651-6CD9-1742-F030-13CC2F6DAC2F}"/>
              </a:ext>
            </a:extLst>
          </p:cNvPr>
          <p:cNvSpPr/>
          <p:nvPr/>
        </p:nvSpPr>
        <p:spPr>
          <a:xfrm rot="16200000">
            <a:off x="10475505" y="4056839"/>
            <a:ext cx="81643" cy="26125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A3BF8E55-B2B9-104D-F277-08902534735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/>
            <a:r>
              <a:rPr lang="en-US" b="1" dirty="0"/>
              <a:t>Accept</a:t>
            </a:r>
            <a:r>
              <a:rPr lang="en-US" dirty="0"/>
              <a:t> or </a:t>
            </a:r>
            <a:r>
              <a:rPr lang="en-US" b="1" dirty="0"/>
              <a:t>request</a:t>
            </a:r>
            <a:r>
              <a:rPr lang="en-US" dirty="0"/>
              <a:t> </a:t>
            </a:r>
            <a:r>
              <a:rPr lang="en-US" b="1" dirty="0"/>
              <a:t>payments</a:t>
            </a:r>
            <a:r>
              <a:rPr lang="en-US" dirty="0"/>
              <a:t> by using QR code of </a:t>
            </a:r>
          </a:p>
          <a:p>
            <a:pPr lvl="0"/>
            <a:r>
              <a:rPr lang="en-US" b="1" dirty="0"/>
              <a:t>UPI</a:t>
            </a:r>
            <a:r>
              <a:rPr lang="en-US" dirty="0"/>
              <a:t> and </a:t>
            </a:r>
            <a:r>
              <a:rPr lang="en-US" b="1" dirty="0"/>
              <a:t>Net Banking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BCE9DA14-62AB-A857-6387-1F5D330B3F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00911" y="4745735"/>
            <a:ext cx="1993392" cy="1211181"/>
          </a:xfrm>
        </p:spPr>
        <p:txBody>
          <a:bodyPr/>
          <a:lstStyle/>
          <a:p>
            <a:pPr lvl="0"/>
            <a:r>
              <a:rPr lang="en-IN" b="0" i="0" dirty="0">
                <a:solidFill>
                  <a:schemeClr val="accent1">
                    <a:lumMod val="50000"/>
                  </a:schemeClr>
                </a:solidFill>
                <a:effectLst/>
                <a:latin typeface="Sabon Next LT (Body)"/>
              </a:rPr>
              <a:t>QR codes can be used to log into websites</a:t>
            </a:r>
          </a:p>
          <a:p>
            <a:pPr lvl="0"/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Sabon Next LT (Body)"/>
              </a:rPr>
              <a:t>Like </a:t>
            </a:r>
            <a:r>
              <a:rPr lang="en-IN" b="1" dirty="0">
                <a:solidFill>
                  <a:schemeClr val="accent1">
                    <a:lumMod val="50000"/>
                  </a:schemeClr>
                </a:solidFill>
                <a:latin typeface="Sabon Next LT (Body)"/>
              </a:rPr>
              <a:t>WhatsApp, Telegram </a:t>
            </a: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Sabon Next LT (Body)"/>
              </a:rPr>
              <a:t>login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Sabon Next LT (Body)"/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710CB940-D45B-59F1-06E5-9CC94100EF0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116484" y="4745736"/>
            <a:ext cx="1993392" cy="1539654"/>
          </a:xfrm>
        </p:spPr>
        <p:txBody>
          <a:bodyPr/>
          <a:lstStyle/>
          <a:p>
            <a:pPr lvl="0"/>
            <a:r>
              <a:rPr lang="en-IN" i="0" dirty="0">
                <a:solidFill>
                  <a:srgbClr val="1F2C8F"/>
                </a:solidFill>
                <a:effectLst/>
              </a:rPr>
              <a:t>QR codes are used to </a:t>
            </a:r>
            <a:r>
              <a:rPr lang="en-IN" b="1" i="0" dirty="0">
                <a:solidFill>
                  <a:srgbClr val="1F2C8F"/>
                </a:solidFill>
                <a:effectLst/>
              </a:rPr>
              <a:t>authenticate</a:t>
            </a:r>
            <a:r>
              <a:rPr lang="en-IN" i="0" dirty="0">
                <a:solidFill>
                  <a:srgbClr val="1F2C8F"/>
                </a:solidFill>
                <a:effectLst/>
              </a:rPr>
              <a:t> </a:t>
            </a:r>
            <a:r>
              <a:rPr lang="en-IN" b="1" i="0" dirty="0">
                <a:solidFill>
                  <a:srgbClr val="1F2C8F"/>
                </a:solidFill>
                <a:effectLst/>
              </a:rPr>
              <a:t>documents</a:t>
            </a:r>
            <a:r>
              <a:rPr lang="en-IN" i="0" dirty="0">
                <a:solidFill>
                  <a:srgbClr val="1F2C8F"/>
                </a:solidFill>
                <a:effectLst/>
              </a:rPr>
              <a:t> online without inserting </a:t>
            </a:r>
            <a:r>
              <a:rPr lang="en-IN" dirty="0">
                <a:solidFill>
                  <a:srgbClr val="1F2C8F"/>
                </a:solidFill>
              </a:rPr>
              <a:t>the details </a:t>
            </a:r>
            <a:r>
              <a:rPr lang="en-IN" i="0" dirty="0">
                <a:solidFill>
                  <a:srgbClr val="1F2C8F"/>
                </a:solidFill>
                <a:effectLst/>
              </a:rPr>
              <a:t>for </a:t>
            </a:r>
            <a:r>
              <a:rPr lang="en-IN" dirty="0">
                <a:solidFill>
                  <a:srgbClr val="1F2C8F"/>
                </a:solidFill>
              </a:rPr>
              <a:t>electronic authentication</a:t>
            </a:r>
            <a:endParaRPr lang="en-US" dirty="0">
              <a:solidFill>
                <a:srgbClr val="1F2C8F"/>
              </a:solidFill>
            </a:endParaRP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0DA38E3-68A2-4FF9-022B-BA0DF832B1D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32057" y="4745736"/>
            <a:ext cx="1993392" cy="1539654"/>
          </a:xfrm>
        </p:spPr>
        <p:txBody>
          <a:bodyPr/>
          <a:lstStyle/>
          <a:p>
            <a:pPr lvl="0"/>
            <a:r>
              <a:rPr lang="en-IN" b="0" i="0" dirty="0">
                <a:solidFill>
                  <a:srgbClr val="C00000"/>
                </a:solidFill>
                <a:effectLst/>
              </a:rPr>
              <a:t>If a business is selling offline, it can use the QR code printed on the product packaging to share the </a:t>
            </a:r>
            <a:r>
              <a:rPr lang="en-IN" b="1" i="0" dirty="0">
                <a:solidFill>
                  <a:srgbClr val="C00000"/>
                </a:solidFill>
                <a:effectLst/>
              </a:rPr>
              <a:t>discount coupon </a:t>
            </a:r>
            <a:r>
              <a:rPr lang="en-IN" b="0" i="0" dirty="0">
                <a:solidFill>
                  <a:srgbClr val="C00000"/>
                </a:solidFill>
                <a:effectLst/>
              </a:rPr>
              <a:t>with the customers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B72BD1AE-7290-BA6E-18FB-8181C0D13E7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547629" y="4745736"/>
            <a:ext cx="1993392" cy="1289304"/>
          </a:xfrm>
        </p:spPr>
        <p:txBody>
          <a:bodyPr/>
          <a:lstStyle/>
          <a:p>
            <a:pPr lvl="0"/>
            <a:r>
              <a:rPr lang="en-IN" i="0" dirty="0">
                <a:solidFill>
                  <a:srgbClr val="1F2C8F"/>
                </a:solidFill>
                <a:effectLst/>
              </a:rPr>
              <a:t>After the </a:t>
            </a:r>
            <a:r>
              <a:rPr lang="en-IN" b="1" dirty="0">
                <a:solidFill>
                  <a:srgbClr val="1F2C8F"/>
                </a:solidFill>
              </a:rPr>
              <a:t>COVID-19 </a:t>
            </a:r>
            <a:r>
              <a:rPr lang="en-IN" dirty="0">
                <a:solidFill>
                  <a:srgbClr val="1F2C8F"/>
                </a:solidFill>
              </a:rPr>
              <a:t>pandemic, </a:t>
            </a:r>
            <a:r>
              <a:rPr lang="en-IN" b="0" i="0" dirty="0">
                <a:solidFill>
                  <a:srgbClr val="1F2C8F"/>
                </a:solidFill>
                <a:effectLst/>
              </a:rPr>
              <a:t>QR codes began to be used as a "touchless" system to </a:t>
            </a:r>
            <a:r>
              <a:rPr lang="en-IN" b="1" i="0" dirty="0">
                <a:solidFill>
                  <a:srgbClr val="1F2C8F"/>
                </a:solidFill>
                <a:effectLst/>
              </a:rPr>
              <a:t>display information</a:t>
            </a:r>
            <a:endParaRPr lang="en-US" b="1" dirty="0">
              <a:solidFill>
                <a:srgbClr val="1F2C8F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575D938-9B29-26BE-F71B-1CA93E717150}"/>
              </a:ext>
            </a:extLst>
          </p:cNvPr>
          <p:cNvGrpSpPr/>
          <p:nvPr/>
        </p:nvGrpSpPr>
        <p:grpSpPr>
          <a:xfrm>
            <a:off x="10945368" y="431800"/>
            <a:ext cx="987552" cy="325120"/>
            <a:chOff x="10945368" y="431800"/>
            <a:chExt cx="987552" cy="32512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4074723B-759C-9090-3ACA-3742EDB65577}"/>
                </a:ext>
              </a:extLst>
            </p:cNvPr>
            <p:cNvSpPr/>
            <p:nvPr/>
          </p:nvSpPr>
          <p:spPr>
            <a:xfrm>
              <a:off x="11276584" y="431800"/>
              <a:ext cx="325120" cy="325120"/>
            </a:xfrm>
            <a:prstGeom prst="ellipse">
              <a:avLst/>
            </a:prstGeom>
            <a:solidFill>
              <a:srgbClr val="1F2C8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Slide Number Placeholder 22">
              <a:extLst>
                <a:ext uri="{FF2B5EF4-FFF2-40B4-BE49-F238E27FC236}">
                  <a16:creationId xmlns:a16="http://schemas.microsoft.com/office/drawing/2014/main" id="{75CB2EE5-B9AB-B710-FA48-9A872F2A9D52}"/>
                </a:ext>
              </a:extLst>
            </p:cNvPr>
            <p:cNvSpPr txBox="1">
              <a:spLocks/>
            </p:cNvSpPr>
            <p:nvPr/>
          </p:nvSpPr>
          <p:spPr>
            <a:xfrm>
              <a:off x="10945368" y="457200"/>
              <a:ext cx="987552" cy="27432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defPPr>
                <a:defRPr lang="en-US"/>
              </a:defPPr>
              <a:lvl1pPr algn="ctr">
                <a:defRPr sz="1200">
                  <a:solidFill>
                    <a:schemeClr val="accent6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48F63A3B-78C7-47BE-AE5E-E10140E04643}" type="slidenum">
                <a:rPr lang="en-US" smtClean="0">
                  <a:solidFill>
                    <a:schemeClr val="accent1"/>
                  </a:solidFill>
                </a:rPr>
                <a:pPr/>
                <a:t>9</a:t>
              </a:fld>
              <a:endParaRPr 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6" name="Footer Placeholder 13">
            <a:extLst>
              <a:ext uri="{FF2B5EF4-FFF2-40B4-BE49-F238E27FC236}">
                <a16:creationId xmlns:a16="http://schemas.microsoft.com/office/drawing/2014/main" id="{B8318CAD-A94C-92ED-FB7C-1401C3445A81}"/>
              </a:ext>
            </a:extLst>
          </p:cNvPr>
          <p:cNvSpPr txBox="1">
            <a:spLocks/>
          </p:cNvSpPr>
          <p:nvPr/>
        </p:nvSpPr>
        <p:spPr>
          <a:xfrm>
            <a:off x="8776210" y="6519883"/>
            <a:ext cx="2823888" cy="1873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>
              <a:defRPr sz="1200" b="1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050" dirty="0"/>
              <a:t>QR CODE GENERATOR USING PYTHON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502887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  <p:sndAc>
          <p:stSnd>
            <p:snd r:embed="rId2" name="push.wav"/>
          </p:stSnd>
        </p:sndAc>
      </p:transition>
    </mc:Choice>
    <mc:Fallback xmlns="">
      <p:transition spd="slow">
        <p:fade/>
        <p:sndAc>
          <p:stSnd>
            <p:snd r:embed="rId3" name="push.wav"/>
          </p:stSnd>
        </p:sndAc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371CEB5-0F43-BA22-C4E7-3A84E631D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SCOPES</a:t>
            </a:r>
          </a:p>
        </p:txBody>
      </p:sp>
      <p:sp>
        <p:nvSpPr>
          <p:cNvPr id="102" name="Slide Number Placeholder 101">
            <a:extLst>
              <a:ext uri="{FF2B5EF4-FFF2-40B4-BE49-F238E27FC236}">
                <a16:creationId xmlns:a16="http://schemas.microsoft.com/office/drawing/2014/main" id="{51BDF1B8-4D26-9C08-3102-6224AA6A4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FC63C25-FE2A-0C11-2CEA-A80AA78FC3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600" dirty="0"/>
              <a:t>image embedded QR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AD6749A-51D8-599C-7C31-9922CF228D3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Insert your logo in QR</a:t>
            </a:r>
          </a:p>
          <a:p>
            <a:r>
              <a:rPr lang="en-US" dirty="0"/>
              <a:t>Image color based QR theme</a:t>
            </a:r>
          </a:p>
          <a:p>
            <a:r>
              <a:rPr lang="en-US" dirty="0"/>
              <a:t>Easy Identification of code</a:t>
            </a:r>
          </a:p>
          <a:p>
            <a:r>
              <a:rPr lang="en-US" dirty="0"/>
              <a:t>Easier to build the trust</a:t>
            </a:r>
          </a:p>
          <a:p>
            <a:r>
              <a:rPr lang="en-US" dirty="0"/>
              <a:t>Insert indications.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753AB0-02A6-E89E-7E23-593DBF52F4E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More customization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BF56CE2-ADEB-1E22-50FB-9F2AB378648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22876" y="3950208"/>
            <a:ext cx="3049524" cy="2206752"/>
          </a:xfrm>
        </p:spPr>
        <p:txBody>
          <a:bodyPr/>
          <a:lstStyle/>
          <a:p>
            <a:r>
              <a:rPr lang="en-IN" b="0" i="0" dirty="0">
                <a:solidFill>
                  <a:srgbClr val="CC4C4C"/>
                </a:solidFill>
                <a:effectLst/>
              </a:rPr>
              <a:t>Change Colour/Gradient</a:t>
            </a:r>
          </a:p>
          <a:p>
            <a:r>
              <a:rPr lang="en-IN" b="0" i="0" dirty="0">
                <a:solidFill>
                  <a:srgbClr val="CC4C4C"/>
                </a:solidFill>
                <a:effectLst/>
              </a:rPr>
              <a:t>Change data pattern </a:t>
            </a:r>
          </a:p>
          <a:p>
            <a:r>
              <a:rPr lang="en-IN" dirty="0">
                <a:solidFill>
                  <a:srgbClr val="CC4C4C"/>
                </a:solidFill>
              </a:rPr>
              <a:t>Change </a:t>
            </a:r>
            <a:r>
              <a:rPr lang="en-IN" b="0" i="0" dirty="0">
                <a:solidFill>
                  <a:srgbClr val="CC4C4C"/>
                </a:solidFill>
                <a:effectLst/>
              </a:rPr>
              <a:t>eye shape</a:t>
            </a:r>
          </a:p>
          <a:p>
            <a:r>
              <a:rPr lang="en-IN" b="0" i="0" dirty="0">
                <a:solidFill>
                  <a:srgbClr val="CC4C4C"/>
                </a:solidFill>
                <a:effectLst/>
              </a:rPr>
              <a:t>Add image as background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745CA7-A767-9133-8871-800B16D5D72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IN" altLang="zh-CN" dirty="0">
                <a:solidFill>
                  <a:srgbClr val="3B492B"/>
                </a:solidFill>
              </a:rPr>
              <a:t>Dynamic </a:t>
            </a:r>
            <a:r>
              <a:rPr lang="en-IN" altLang="zh-CN" dirty="0" err="1">
                <a:solidFill>
                  <a:srgbClr val="3B492B"/>
                </a:solidFill>
              </a:rPr>
              <a:t>qr</a:t>
            </a:r>
            <a:endParaRPr lang="en-US" dirty="0">
              <a:solidFill>
                <a:srgbClr val="3B492B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063C991-877C-CD1D-A03D-547E04121FE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IN" dirty="0">
                <a:solidFill>
                  <a:srgbClr val="535521"/>
                </a:solidFill>
              </a:rPr>
              <a:t>F</a:t>
            </a:r>
            <a:r>
              <a:rPr lang="en-IN" b="0" i="0" dirty="0">
                <a:solidFill>
                  <a:srgbClr val="535521"/>
                </a:solidFill>
                <a:effectLst/>
              </a:rPr>
              <a:t>lexibility to change the URL linked to it, even after printing and distributing.</a:t>
            </a:r>
            <a:endParaRPr lang="en-US" dirty="0">
              <a:solidFill>
                <a:srgbClr val="535521"/>
              </a:solidFill>
            </a:endParaRPr>
          </a:p>
          <a:p>
            <a:r>
              <a:rPr lang="en-IN" b="0" i="0" dirty="0">
                <a:solidFill>
                  <a:srgbClr val="535521"/>
                </a:solidFill>
                <a:effectLst/>
              </a:rPr>
              <a:t>It stores a short dynamic URL on the QR code</a:t>
            </a:r>
            <a:endParaRPr lang="en-US" dirty="0">
              <a:solidFill>
                <a:srgbClr val="535521"/>
              </a:solidFill>
            </a:endParaRPr>
          </a:p>
          <a:p>
            <a:r>
              <a:rPr lang="en-IN" dirty="0">
                <a:solidFill>
                  <a:srgbClr val="535521"/>
                </a:solidFill>
              </a:rPr>
              <a:t>Its </a:t>
            </a:r>
            <a:r>
              <a:rPr lang="en-IN" b="0" i="0" dirty="0">
                <a:solidFill>
                  <a:srgbClr val="535521"/>
                </a:solidFill>
                <a:effectLst/>
              </a:rPr>
              <a:t>performance can be tracked</a:t>
            </a:r>
            <a:endParaRPr lang="en-US" dirty="0">
              <a:solidFill>
                <a:srgbClr val="53552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02A2E7C-7CC1-7D5D-A1E9-858E0031B39B}"/>
              </a:ext>
            </a:extLst>
          </p:cNvPr>
          <p:cNvGrpSpPr/>
          <p:nvPr/>
        </p:nvGrpSpPr>
        <p:grpSpPr>
          <a:xfrm>
            <a:off x="10945368" y="431800"/>
            <a:ext cx="987552" cy="325120"/>
            <a:chOff x="10945368" y="431800"/>
            <a:chExt cx="987552" cy="32512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C44F490-2281-83EC-415D-FB3327F7FC35}"/>
                </a:ext>
              </a:extLst>
            </p:cNvPr>
            <p:cNvSpPr/>
            <p:nvPr/>
          </p:nvSpPr>
          <p:spPr>
            <a:xfrm>
              <a:off x="11276584" y="431800"/>
              <a:ext cx="325120" cy="325120"/>
            </a:xfrm>
            <a:prstGeom prst="ellipse">
              <a:avLst/>
            </a:prstGeom>
            <a:solidFill>
              <a:srgbClr val="1F2C8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Slide Number Placeholder 22">
              <a:extLst>
                <a:ext uri="{FF2B5EF4-FFF2-40B4-BE49-F238E27FC236}">
                  <a16:creationId xmlns:a16="http://schemas.microsoft.com/office/drawing/2014/main" id="{98AD4646-EC1E-DBE4-52F1-468CE61BCF31}"/>
                </a:ext>
              </a:extLst>
            </p:cNvPr>
            <p:cNvSpPr txBox="1">
              <a:spLocks/>
            </p:cNvSpPr>
            <p:nvPr/>
          </p:nvSpPr>
          <p:spPr>
            <a:xfrm>
              <a:off x="10945368" y="457200"/>
              <a:ext cx="987552" cy="27432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defPPr>
                <a:defRPr lang="en-US"/>
              </a:defPPr>
              <a:lvl1pPr algn="ctr">
                <a:defRPr sz="1200">
                  <a:solidFill>
                    <a:schemeClr val="accent6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48F63A3B-78C7-47BE-AE5E-E10140E04643}" type="slidenum">
                <a:rPr lang="en-US" smtClean="0">
                  <a:solidFill>
                    <a:schemeClr val="accent1"/>
                  </a:solidFill>
                </a:rPr>
                <a:pPr/>
                <a:t>10</a:t>
              </a:fld>
              <a:endParaRPr 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12" name="Footer Placeholder 13">
            <a:extLst>
              <a:ext uri="{FF2B5EF4-FFF2-40B4-BE49-F238E27FC236}">
                <a16:creationId xmlns:a16="http://schemas.microsoft.com/office/drawing/2014/main" id="{C22DA04B-0E0F-6CB0-36AC-BC236C35E62F}"/>
              </a:ext>
            </a:extLst>
          </p:cNvPr>
          <p:cNvSpPr txBox="1">
            <a:spLocks/>
          </p:cNvSpPr>
          <p:nvPr/>
        </p:nvSpPr>
        <p:spPr>
          <a:xfrm>
            <a:off x="8776210" y="6519883"/>
            <a:ext cx="2823888" cy="1873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>
              <a:defRPr sz="1200" b="1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050" dirty="0"/>
              <a:t>QR CODE GENERATOR USING PYTHON</a:t>
            </a:r>
            <a:endParaRPr lang="en-US" sz="1050" dirty="0"/>
          </a:p>
        </p:txBody>
      </p:sp>
      <p:pic>
        <p:nvPicPr>
          <p:cNvPr id="22" name="Picture Placeholder 21">
            <a:extLst>
              <a:ext uri="{FF2B5EF4-FFF2-40B4-BE49-F238E27FC236}">
                <a16:creationId xmlns:a16="http://schemas.microsoft.com/office/drawing/2014/main" id="{5649E63C-3151-CAD4-22F1-F80479D8421E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>
          <a:blip r:embed="rId3"/>
          <a:srcRect/>
          <a:stretch>
            <a:fillRect/>
          </a:stretch>
        </p:blipFill>
        <p:spPr/>
      </p:pic>
      <p:pic>
        <p:nvPicPr>
          <p:cNvPr id="30" name="Picture Placeholder 29">
            <a:extLst>
              <a:ext uri="{FF2B5EF4-FFF2-40B4-BE49-F238E27FC236}">
                <a16:creationId xmlns:a16="http://schemas.microsoft.com/office/drawing/2014/main" id="{DA70C8CF-17ED-09A8-0766-6B970085727A}"/>
              </a:ext>
            </a:extLst>
          </p:cNvPr>
          <p:cNvPicPr>
            <a:picLocks noGrp="1" noChangeAspect="1"/>
          </p:cNvPicPr>
          <p:nvPr>
            <p:ph type="pic" sz="quarter" idx="25"/>
          </p:nvPr>
        </p:nvPicPr>
        <p:blipFill rotWithShape="1">
          <a:blip r:embed="rId4"/>
          <a:srcRect l="5393" t="7364" r="8209" b="8120"/>
          <a:stretch/>
        </p:blipFill>
        <p:spPr>
          <a:xfrm>
            <a:off x="5705284" y="2258568"/>
            <a:ext cx="805815" cy="809625"/>
          </a:xfrm>
          <a:prstGeom prst="rect">
            <a:avLst/>
          </a:prstGeom>
        </p:spPr>
      </p:pic>
      <p:pic>
        <p:nvPicPr>
          <p:cNvPr id="34" name="Picture Placeholder 33">
            <a:extLst>
              <a:ext uri="{FF2B5EF4-FFF2-40B4-BE49-F238E27FC236}">
                <a16:creationId xmlns:a16="http://schemas.microsoft.com/office/drawing/2014/main" id="{9D5CF83B-48EB-ECA9-2A6B-864D38C22735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>
          <a:blip r:embed="rId5">
            <a:duotone>
              <a:prstClr val="black"/>
              <a:srgbClr val="92D05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rcRect t="668" b="668"/>
          <a:stretch>
            <a:fillRect/>
          </a:stretch>
        </p:blipFill>
        <p:spPr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4990447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  <p:sndAc>
          <p:stSnd>
            <p:snd r:embed="rId2" name="laser.wav"/>
          </p:stSnd>
        </p:sndAc>
      </p:transition>
    </mc:Choice>
    <mc:Fallback xmlns="">
      <p:transition spd="slow">
        <p:fade/>
        <p:sndAc>
          <p:stSnd>
            <p:snd r:embed="rId7" name="laser.wav"/>
          </p:stSnd>
        </p:sndAc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AB426-5B7C-607E-D413-5D2C9495CC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87DFD8-D262-D485-B1F2-817C5A0928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4717" y="3048089"/>
            <a:ext cx="4011996" cy="2176272"/>
          </a:xfrm>
        </p:spPr>
        <p:txBody>
          <a:bodyPr/>
          <a:lstStyle/>
          <a:p>
            <a:pPr algn="l"/>
            <a:r>
              <a:rPr lang="en-US" sz="2800" dirty="0">
                <a:solidFill>
                  <a:srgbClr val="1F2C8F"/>
                </a:solidFill>
                <a:latin typeface="+mj-lt"/>
              </a:rPr>
              <a:t>From:</a:t>
            </a:r>
          </a:p>
          <a:p>
            <a:pPr algn="l"/>
            <a:r>
              <a:rPr lang="en-US" sz="2800" dirty="0">
                <a:solidFill>
                  <a:srgbClr val="1F2C8F"/>
                </a:solidFill>
              </a:rPr>
              <a:t>Mr. Abdurrahman Ansari</a:t>
            </a:r>
          </a:p>
          <a:p>
            <a:pPr algn="l"/>
            <a:r>
              <a:rPr lang="en-US" dirty="0">
                <a:solidFill>
                  <a:srgbClr val="1F2C8F"/>
                </a:solidFill>
              </a:rPr>
              <a:t>Ms. </a:t>
            </a:r>
            <a:r>
              <a:rPr lang="en-US" dirty="0" err="1">
                <a:solidFill>
                  <a:srgbClr val="1F2C8F"/>
                </a:solidFill>
              </a:rPr>
              <a:t>Anshika</a:t>
            </a:r>
            <a:endParaRPr lang="en-US" dirty="0">
              <a:solidFill>
                <a:srgbClr val="1F2C8F"/>
              </a:solidFill>
            </a:endParaRPr>
          </a:p>
          <a:p>
            <a:pPr algn="l"/>
            <a:r>
              <a:rPr lang="en-US" sz="2800" dirty="0">
                <a:solidFill>
                  <a:srgbClr val="1F2C8F"/>
                </a:solidFill>
              </a:rPr>
              <a:t>Mr. Sujeet Kumar</a:t>
            </a:r>
            <a:endParaRPr lang="en-US" sz="1400" dirty="0">
              <a:solidFill>
                <a:srgbClr val="1F2C8F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E3E4346-3A27-13FE-F4D8-F3A0FDC9E9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7284" y="4932857"/>
            <a:ext cx="1300221" cy="1300221"/>
          </a:xfrm>
          <a:prstGeom prst="roundRect">
            <a:avLst/>
          </a:prstGeom>
          <a:ln w="28575">
            <a:solidFill>
              <a:srgbClr val="870000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DB91B7C-54F8-B5BD-A964-CE9340807C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5098" y="4084984"/>
            <a:ext cx="1424959" cy="1424959"/>
          </a:xfrm>
          <a:prstGeom prst="roundRect">
            <a:avLst/>
          </a:prstGeom>
          <a:ln w="28575">
            <a:solidFill>
              <a:srgbClr val="05405C"/>
            </a:solidFill>
          </a:ln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6AD221C2-A0F7-936F-4A6A-2489971C9326}"/>
              </a:ext>
            </a:extLst>
          </p:cNvPr>
          <p:cNvGrpSpPr/>
          <p:nvPr/>
        </p:nvGrpSpPr>
        <p:grpSpPr>
          <a:xfrm>
            <a:off x="10945368" y="431800"/>
            <a:ext cx="987552" cy="325120"/>
            <a:chOff x="10945368" y="431800"/>
            <a:chExt cx="987552" cy="32512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AE414A9-E808-59A9-2FC0-9F75F1478E5C}"/>
                </a:ext>
              </a:extLst>
            </p:cNvPr>
            <p:cNvSpPr/>
            <p:nvPr/>
          </p:nvSpPr>
          <p:spPr>
            <a:xfrm>
              <a:off x="11276584" y="431800"/>
              <a:ext cx="325120" cy="325120"/>
            </a:xfrm>
            <a:prstGeom prst="ellipse">
              <a:avLst/>
            </a:prstGeom>
            <a:solidFill>
              <a:srgbClr val="1F2C8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Slide Number Placeholder 22">
              <a:extLst>
                <a:ext uri="{FF2B5EF4-FFF2-40B4-BE49-F238E27FC236}">
                  <a16:creationId xmlns:a16="http://schemas.microsoft.com/office/drawing/2014/main" id="{492E2BBE-3FFA-7306-10E9-CDEDEF87B8F7}"/>
                </a:ext>
              </a:extLst>
            </p:cNvPr>
            <p:cNvSpPr txBox="1">
              <a:spLocks/>
            </p:cNvSpPr>
            <p:nvPr/>
          </p:nvSpPr>
          <p:spPr>
            <a:xfrm>
              <a:off x="10945368" y="457200"/>
              <a:ext cx="987552" cy="27432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defPPr>
                <a:defRPr lang="en-US"/>
              </a:defPPr>
              <a:lvl1pPr algn="ctr">
                <a:defRPr sz="1200">
                  <a:solidFill>
                    <a:schemeClr val="accent6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48F63A3B-78C7-47BE-AE5E-E10140E04643}" type="slidenum">
                <a:rPr lang="en-US" smtClean="0">
                  <a:solidFill>
                    <a:schemeClr val="accent1"/>
                  </a:solidFill>
                </a:rPr>
                <a:pPr/>
                <a:t>11</a:t>
              </a:fld>
              <a:endParaRPr 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77767E6E-728F-E897-E4E9-9C8F968D5131}"/>
              </a:ext>
            </a:extLst>
          </p:cNvPr>
          <p:cNvSpPr txBox="1">
            <a:spLocks/>
          </p:cNvSpPr>
          <p:nvPr/>
        </p:nvSpPr>
        <p:spPr>
          <a:xfrm>
            <a:off x="8868790" y="6494001"/>
            <a:ext cx="3017830" cy="2620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>
              <a:defRPr sz="1200" b="1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050" dirty="0">
                <a:solidFill>
                  <a:srgbClr val="F5CDCE"/>
                </a:solidFill>
              </a:rPr>
              <a:t>QR CODE        </a:t>
            </a:r>
            <a:r>
              <a:rPr lang="en-IN" sz="1050" dirty="0">
                <a:solidFill>
                  <a:srgbClr val="1F2C8F"/>
                </a:solidFill>
              </a:rPr>
              <a:t>GENERATOR USING PYTHON</a:t>
            </a:r>
            <a:endParaRPr lang="en-US" sz="1050" dirty="0">
              <a:solidFill>
                <a:srgbClr val="1F2C8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B776A9-F5D1-4804-52E3-DF94FE205D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8048" y="2308860"/>
            <a:ext cx="1424959" cy="1424959"/>
          </a:xfrm>
          <a:prstGeom prst="roundRect">
            <a:avLst/>
          </a:prstGeom>
          <a:ln w="28575">
            <a:solidFill>
              <a:srgbClr val="330000"/>
            </a:solidFill>
          </a:ln>
        </p:spPr>
      </p:pic>
    </p:spTree>
    <p:extLst>
      <p:ext uri="{BB962C8B-B14F-4D97-AF65-F5344CB8AC3E}">
        <p14:creationId xmlns:p14="http://schemas.microsoft.com/office/powerpoint/2010/main" val="100396242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  <p:sndAc>
          <p:stSnd>
            <p:snd r:embed="rId2" name="hammer.wav"/>
          </p:stSnd>
        </p:sndAc>
      </p:transition>
    </mc:Choice>
    <mc:Fallback xmlns="">
      <p:transition spd="slow">
        <p:fade/>
        <p:sndAc>
          <p:stSnd>
            <p:snd r:embed="rId6" name="hammer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-Color-Block_Win32_jx_v9.potx" id="{B1D493D9-AF74-4AD6-8F0C-5B1308D7041B}" vid="{1AA99070-5A1F-42D2-9F5B-E7354C9646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4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E942BAE-EED6-48B4-B2CF-2C0B9C26D466}">
  <we:reference id="wa104379997" version="2.0.0.0" store="en-US" storeType="OMEX"/>
  <we:alternateReferences>
    <we:reference id="WA104379997" version="2.0.0.0" store="WA104379997" storeType="OMEX"/>
  </we:alternateReferences>
  <we:properties/>
  <we:bindings/>
  <we:snapshot xmlns:r="http://schemas.openxmlformats.org/officeDocument/2006/relationships"/>
</we:webextension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{756AAE02-4F28-4B37-8580-BBE929F27CBC}tf78438558_win32</Template>
  <TotalTime>1377</TotalTime>
  <Words>712</Words>
  <Application>Microsoft Office PowerPoint</Application>
  <PresentationFormat>Widescreen</PresentationFormat>
  <Paragraphs>141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Abadi Extra Light</vt:lpstr>
      <vt:lpstr>Arial</vt:lpstr>
      <vt:lpstr>Arial Black</vt:lpstr>
      <vt:lpstr>Calibri</vt:lpstr>
      <vt:lpstr>Sabon Next LT</vt:lpstr>
      <vt:lpstr>Sabon Next LT (Body)</vt:lpstr>
      <vt:lpstr>Wingdings</vt:lpstr>
      <vt:lpstr>Office Theme</vt:lpstr>
      <vt:lpstr>QR CODE GENERATOR</vt:lpstr>
      <vt:lpstr>contents</vt:lpstr>
      <vt:lpstr>Introduction</vt:lpstr>
      <vt:lpstr>PowerPoint Presentation</vt:lpstr>
      <vt:lpstr>How qr code works</vt:lpstr>
      <vt:lpstr>components used</vt:lpstr>
      <vt:lpstr>Brief details of libraries</vt:lpstr>
      <vt:lpstr>Working</vt:lpstr>
      <vt:lpstr>USE CASES</vt:lpstr>
      <vt:lpstr>FUTURE SCOPES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QR CODE GENERATOR</dc:title>
  <dc:subject/>
  <dc:creator>SHUBBAN AHLEHADEETH</dc:creator>
  <cp:lastModifiedBy>SHUBBAN AHLEHADEETH</cp:lastModifiedBy>
  <cp:revision>20</cp:revision>
  <dcterms:created xsi:type="dcterms:W3CDTF">2023-01-16T15:08:41Z</dcterms:created>
  <dcterms:modified xsi:type="dcterms:W3CDTF">2023-02-24T16:54:14Z</dcterms:modified>
</cp:coreProperties>
</file>